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altime_we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altime_we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52450" y="800100"/>
            <a:ext cx="5160546" cy="3765550"/>
            <a:chOff x="552450" y="800100"/>
            <a:chExt cx="5160546" cy="3765550"/>
          </a:xfrm>
        </p:grpSpPr>
        <p:sp>
          <p:nvSpPr>
            <p:cNvPr id="2" name="Rectangle 2"/>
            <p:cNvSpPr/>
            <p:nvPr/>
          </p:nvSpPr>
          <p:spPr>
            <a:xfrm>
              <a:off x="609600" y="800100"/>
              <a:ext cx="5524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980" y="1143000"/>
              <a:ext cx="3267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PRACTICAL DEVELOPER’S GUIDE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2450" y="1841500"/>
              <a:ext cx="5160546" cy="272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Real-time</a:t>
              </a:r>
              <a:b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Communication</a:t>
              </a:r>
              <a:b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 the Web</a:t>
              </a:r>
            </a:p>
          </p:txBody>
        </p:sp>
      </p:grpSp>
      <p:grpSp>
        <p:nvGrpSpPr>
          <p:cNvPr id="16" name="signal"/>
          <p:cNvGrpSpPr/>
          <p:nvPr/>
        </p:nvGrpSpPr>
        <p:grpSpPr>
          <a:xfrm>
            <a:off x="9096375" y="1790700"/>
            <a:ext cx="2190750" cy="3086100"/>
            <a:chOff x="9096375" y="1790700"/>
            <a:chExt cx="2190750" cy="3086100"/>
          </a:xfrm>
        </p:grpSpPr>
        <p:sp>
          <p:nvSpPr>
            <p:cNvPr id="6" name="Rectangle 6"/>
            <p:cNvSpPr/>
            <p:nvPr/>
          </p:nvSpPr>
          <p:spPr>
            <a:xfrm>
              <a:off x="9096375" y="1790700"/>
              <a:ext cx="219075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105900" y="21145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239250" y="1905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391650" y="190500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544050" y="190500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78848" y="2403475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0" y="3219450"/>
              <a:ext cx="1" cy="628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 flipV="1">
              <a:off x="10477500" y="3314700"/>
              <a:ext cx="1" cy="628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096375" y="4171950"/>
              <a:ext cx="2190750" cy="704850"/>
            </a:xfrm>
            <a:prstGeom prst="roundRect">
              <a:avLst>
                <a:gd name="adj" fmla="val 1621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88471" y="43561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</p:grpSp>
      <p:grpSp>
        <p:nvGrpSpPr>
          <p:cNvPr id="18" name="subtitle"/>
          <p:cNvGrpSpPr/>
          <p:nvPr/>
        </p:nvGrpSpPr>
        <p:grpSpPr>
          <a:xfrm>
            <a:off x="597408" y="5337175"/>
            <a:ext cx="5363065" cy="469392"/>
            <a:chOff x="597408" y="5337175"/>
            <a:chExt cx="5363065" cy="469392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5337175"/>
              <a:ext cx="53630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Notifications. Messages. Less waiting.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1810136" cy="1021588"/>
            <a:chOff x="591312" y="647700"/>
            <a:chExt cx="1810136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1469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18101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Agenda</a:t>
              </a:r>
            </a:p>
          </p:txBody>
        </p:sp>
      </p:grpSp>
      <p:grpSp>
        <p:nvGrpSpPr>
          <p:cNvPr id="8" name="part1"/>
          <p:cNvGrpSpPr/>
          <p:nvPr/>
        </p:nvGrpSpPr>
        <p:grpSpPr>
          <a:xfrm>
            <a:off x="597408" y="2146300"/>
            <a:ext cx="10737342" cy="587375"/>
            <a:chOff x="597408" y="2146300"/>
            <a:chExt cx="10737342" cy="587375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1463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83233" y="2146300"/>
              <a:ext cx="34511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Pain Points &amp; Approach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504950" y="27241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part2"/>
          <p:cNvGrpSpPr/>
          <p:nvPr/>
        </p:nvGrpSpPr>
        <p:grpSpPr>
          <a:xfrm>
            <a:off x="597408" y="3136900"/>
            <a:ext cx="10737342" cy="587375"/>
            <a:chOff x="597408" y="3136900"/>
            <a:chExt cx="10737342" cy="587375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31369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3233" y="3136900"/>
              <a:ext cx="51326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Real-time Communication Methods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04950" y="37147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part3"/>
          <p:cNvGrpSpPr/>
          <p:nvPr/>
        </p:nvGrpSpPr>
        <p:grpSpPr>
          <a:xfrm>
            <a:off x="597408" y="4127500"/>
            <a:ext cx="10737342" cy="587375"/>
            <a:chOff x="597408" y="4127500"/>
            <a:chExt cx="10737342" cy="587375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41275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3233" y="4127500"/>
              <a:ext cx="42870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Lessons Learned &amp; Trade-offs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04950" y="47053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part4"/>
          <p:cNvGrpSpPr/>
          <p:nvPr/>
        </p:nvGrpSpPr>
        <p:grpSpPr>
          <a:xfrm>
            <a:off x="597408" y="5118100"/>
            <a:ext cx="2976260" cy="469392"/>
            <a:chOff x="597408" y="5118100"/>
            <a:chExt cx="2976260" cy="469392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51181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3233" y="5118100"/>
              <a:ext cx="20904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Demo &amp; Q&amp;A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6458617" cy="1021588"/>
            <a:chOff x="591312" y="647700"/>
            <a:chExt cx="6458617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3072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PAIN POINTS &amp; APPROACH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64586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Are Notifications Late?</a:t>
              </a:r>
            </a:p>
          </p:txBody>
        </p:sp>
      </p:grpSp>
      <p:grpSp>
        <p:nvGrpSpPr>
          <p:cNvPr id="29" name="notification-scene"/>
          <p:cNvGrpSpPr/>
          <p:nvPr/>
        </p:nvGrpSpPr>
        <p:grpSpPr>
          <a:xfrm>
            <a:off x="628650" y="2190750"/>
            <a:ext cx="10915650" cy="2569845"/>
            <a:chOff x="628650" y="2190750"/>
            <a:chExt cx="10915650" cy="2569845"/>
          </a:xfrm>
        </p:grpSpPr>
        <p:sp>
          <p:nvSpPr>
            <p:cNvPr id="5" name="Rectangle 5"/>
            <p:cNvSpPr/>
            <p:nvPr/>
          </p:nvSpPr>
          <p:spPr>
            <a:xfrm>
              <a:off x="628650" y="2190750"/>
              <a:ext cx="30099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2390775"/>
              <a:ext cx="746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FORUM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28650" y="27622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3000375"/>
              <a:ext cx="251460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80687" y="3311307"/>
              <a:ext cx="332775" cy="294987"/>
            </a:xfrm>
            <a:custGeom>
              <a:avLst/>
              <a:gdLst/>
              <a:ahLst/>
              <a:cxnLst/>
              <a:rect l="l" t="t" r="r" b="b"/>
              <a:pathLst>
                <a:path w="332775" h="294987">
                  <a:moveTo>
                    <a:pt x="17069" y="279618"/>
                  </a:moveTo>
                  <a:lnTo>
                    <a:pt x="38738" y="214610"/>
                  </a:lnTo>
                  <a:cubicBezTo>
                    <a:pt x="0" y="157320"/>
                    <a:pt x="14969" y="83394"/>
                    <a:pt x="73743" y="41689"/>
                  </a:cubicBezTo>
                  <a:cubicBezTo>
                    <a:pt x="132517" y="0"/>
                    <a:pt x="216927" y="3417"/>
                    <a:pt x="271184" y="49690"/>
                  </a:cubicBezTo>
                  <a:cubicBezTo>
                    <a:pt x="325441" y="95979"/>
                    <a:pt x="332775" y="170805"/>
                    <a:pt x="288336" y="224728"/>
                  </a:cubicBezTo>
                  <a:cubicBezTo>
                    <a:pt x="243897" y="278651"/>
                    <a:pt x="161404" y="294987"/>
                    <a:pt x="95412" y="262950"/>
                  </a:cubicBezTo>
                  <a:lnTo>
                    <a:pt x="17069" y="279618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9532" y="3289300"/>
              <a:ext cx="12889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New reply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3267075"/>
              <a:ext cx="1143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72075" y="2667000"/>
              <a:ext cx="1619250" cy="118110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91200" y="2895600"/>
              <a:ext cx="342900" cy="304800"/>
              <a:chOff x="5791200" y="2895600"/>
              <a:chExt cx="3429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791200" y="28956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791200" y="30480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67400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67400" y="312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93644" y="3457575"/>
              <a:ext cx="576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00875" y="3267075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51490" y="2828925"/>
              <a:ext cx="86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Waiting…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0" y="2190750"/>
              <a:ext cx="31623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02980" y="2390775"/>
              <a:ext cx="995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RECIPIENT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382000" y="27622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820275" y="3105150"/>
              <a:ext cx="304800" cy="342900"/>
              <a:chOff x="9820275" y="3105150"/>
              <a:chExt cx="304800" cy="3429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820275" y="3105150"/>
                <a:ext cx="3048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66700">
                    <a:moveTo>
                      <a:pt x="114300" y="38100"/>
                    </a:moveTo>
                    <a:cubicBezTo>
                      <a:pt x="114300" y="17058"/>
                      <a:pt x="131358" y="0"/>
                      <a:pt x="152400" y="0"/>
                    </a:cubicBezTo>
                    <a:cubicBezTo>
                      <a:pt x="173442" y="0"/>
                      <a:pt x="190500" y="17058"/>
                      <a:pt x="190500" y="38100"/>
                    </a:cubicBezTo>
                    <a:cubicBezTo>
                      <a:pt x="235080" y="59180"/>
                      <a:pt x="264388" y="103141"/>
                      <a:pt x="266700" y="152400"/>
                    </a:cubicBezTo>
                    <a:lnTo>
                      <a:pt x="266700" y="209550"/>
                    </a:lnTo>
                    <a:cubicBezTo>
                      <a:pt x="269607" y="233568"/>
                      <a:pt x="283748" y="254779"/>
                      <a:pt x="304800" y="266700"/>
                    </a:cubicBezTo>
                    <a:lnTo>
                      <a:pt x="0" y="266700"/>
                    </a:lnTo>
                    <a:cubicBezTo>
                      <a:pt x="21052" y="254779"/>
                      <a:pt x="35193" y="233568"/>
                      <a:pt x="38100" y="209550"/>
                    </a:cubicBezTo>
                    <a:lnTo>
                      <a:pt x="38100" y="152400"/>
                    </a:lnTo>
                    <a:cubicBezTo>
                      <a:pt x="40412" y="103141"/>
                      <a:pt x="69720" y="59180"/>
                      <a:pt x="114300" y="38100"/>
                    </a:cubicBezTo>
                  </a:path>
                </a:pathLst>
              </a:custGeom>
              <a:noFill/>
              <a:ln w="38100">
                <a:solidFill>
                  <a:srgbClr val="526B8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15525" y="33718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0" y="19050"/>
                    </a:lnTo>
                    <a:cubicBezTo>
                      <a:pt x="0" y="50613"/>
                      <a:pt x="25587" y="76200"/>
                      <a:pt x="57150" y="76200"/>
                    </a:cubicBezTo>
                    <a:cubicBezTo>
                      <a:pt x="88713" y="76200"/>
                      <a:pt x="114300" y="50613"/>
                      <a:pt x="114300" y="1905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526B8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032917" y="3733800"/>
              <a:ext cx="1860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new notifications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1951" y="4467225"/>
              <a:ext cx="178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Until the next check</a:t>
              </a:r>
            </a:p>
          </p:txBody>
        </p:sp>
      </p:grpSp>
      <p:grpSp>
        <p:nvGrpSpPr>
          <p:cNvPr id="36" name="approach"/>
          <p:cNvGrpSpPr/>
          <p:nvPr/>
        </p:nvGrpSpPr>
        <p:grpSpPr>
          <a:xfrm>
            <a:off x="609600" y="5191125"/>
            <a:ext cx="10972800" cy="762000"/>
            <a:chOff x="609600" y="5191125"/>
            <a:chExt cx="1097280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5191125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4108" y="5375275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22932" y="5403850"/>
              <a:ext cx="39070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Push updates to an open page.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96600" y="5453062"/>
              <a:ext cx="228600" cy="257176"/>
              <a:chOff x="10896600" y="5453062"/>
              <a:chExt cx="228600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896600" y="545306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968038" y="56530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3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6090769" cy="1021588"/>
            <a:chOff x="591312" y="647700"/>
            <a:chExt cx="6090769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3072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PAIN POINTS &amp; APPROACH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609076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Does Chat Feel Slow?</a:t>
              </a:r>
            </a:p>
          </p:txBody>
        </p:sp>
      </p:grpSp>
      <p:grpSp>
        <p:nvGrpSpPr>
          <p:cNvPr id="27" name="chat-scene"/>
          <p:cNvGrpSpPr/>
          <p:nvPr/>
        </p:nvGrpSpPr>
        <p:grpSpPr>
          <a:xfrm>
            <a:off x="628650" y="2190750"/>
            <a:ext cx="10915650" cy="2419350"/>
            <a:chOff x="628650" y="2190750"/>
            <a:chExt cx="10915650" cy="2419350"/>
          </a:xfrm>
        </p:grpSpPr>
        <p:sp>
          <p:nvSpPr>
            <p:cNvPr id="5" name="Rectangle 5"/>
            <p:cNvSpPr/>
            <p:nvPr/>
          </p:nvSpPr>
          <p:spPr>
            <a:xfrm>
              <a:off x="628650" y="2190750"/>
              <a:ext cx="3009900" cy="2419350"/>
            </a:xfrm>
            <a:prstGeom prst="roundRect">
              <a:avLst>
                <a:gd name="adj" fmla="val 47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2381250"/>
              <a:ext cx="1060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MEMBER A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28650" y="2752725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81100" y="3009900"/>
              <a:ext cx="2190750" cy="590550"/>
            </a:xfrm>
            <a:prstGeom prst="roundRect">
              <a:avLst>
                <a:gd name="adj" fmla="val 193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02080" y="3190875"/>
              <a:ext cx="174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Hey, are you there?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44001" y="3724275"/>
              <a:ext cx="416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Sent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3257550"/>
              <a:ext cx="1143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72075" y="2667000"/>
              <a:ext cx="1619250" cy="118110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91200" y="2895600"/>
              <a:ext cx="342900" cy="304800"/>
              <a:chOff x="5791200" y="2895600"/>
              <a:chExt cx="3429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791200" y="28956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791200" y="30480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67400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67400" y="312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93644" y="3457575"/>
              <a:ext cx="576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00875" y="3257550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82000" y="2190750"/>
              <a:ext cx="3162300" cy="2419350"/>
            </a:xfrm>
            <a:prstGeom prst="roundRect">
              <a:avLst>
                <a:gd name="adj" fmla="val 47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02980" y="2381250"/>
              <a:ext cx="1045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MEMBER B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382000" y="2752725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6488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9155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1822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31003" y="3651250"/>
              <a:ext cx="14642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Still waiting</a:t>
              </a:r>
            </a:p>
          </p:txBody>
        </p:sp>
      </p:grpSp>
      <p:grpSp>
        <p:nvGrpSpPr>
          <p:cNvPr id="32" name="approach"/>
          <p:cNvGrpSpPr/>
          <p:nvPr/>
        </p:nvGrpSpPr>
        <p:grpSpPr>
          <a:xfrm>
            <a:off x="609600" y="5191125"/>
            <a:ext cx="10972800" cy="762000"/>
            <a:chOff x="609600" y="5191125"/>
            <a:chExt cx="10972800" cy="762000"/>
          </a:xfrm>
        </p:grpSpPr>
        <p:sp>
          <p:nvSpPr>
            <p:cNvPr id="28" name="Rectangle 28"/>
            <p:cNvSpPr/>
            <p:nvPr/>
          </p:nvSpPr>
          <p:spPr>
            <a:xfrm>
              <a:off x="609600" y="5191125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4108" y="5375275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0682" y="5403850"/>
              <a:ext cx="3584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Keep the conversation open.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0867682" y="54562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5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71500"/>
            <a:ext cx="5370866" cy="1605788"/>
            <a:chOff x="591312" y="571500"/>
            <a:chExt cx="5370866" cy="16057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571500"/>
              <a:ext cx="4373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REAL-TIME COMMUNICATION METHODS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01700"/>
              <a:ext cx="537086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From Repeated Requests</a:t>
              </a:r>
              <a:b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 Live Connections</a:t>
              </a:r>
            </a:p>
          </p:txBody>
        </p:sp>
      </p:grpSp>
      <p:grpSp>
        <p:nvGrpSpPr>
          <p:cNvPr id="24" name="method-map"/>
          <p:cNvGrpSpPr/>
          <p:nvPr/>
        </p:nvGrpSpPr>
        <p:grpSpPr>
          <a:xfrm>
            <a:off x="711708" y="2857500"/>
            <a:ext cx="10413492" cy="1964309"/>
            <a:chOff x="711708" y="2857500"/>
            <a:chExt cx="10413492" cy="1964309"/>
          </a:xfrm>
        </p:grpSpPr>
        <p:sp>
          <p:nvSpPr>
            <p:cNvPr id="5" name="Line 5"/>
            <p:cNvSpPr/>
            <p:nvPr/>
          </p:nvSpPr>
          <p:spPr>
            <a:xfrm>
              <a:off x="1095375" y="3086100"/>
              <a:ext cx="10029825" cy="9525"/>
            </a:xfrm>
            <a:custGeom>
              <a:avLst/>
              <a:gdLst/>
              <a:ahLst/>
              <a:cxnLst/>
              <a:rect l="l" t="t" r="r" b="b"/>
              <a:pathLst>
                <a:path w="10029825" h="9525">
                  <a:moveTo>
                    <a:pt x="0" y="0"/>
                  </a:moveTo>
                  <a:lnTo>
                    <a:pt x="100298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04900" y="28575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71450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933825" y="28575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0375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762750" y="28575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29300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591675" y="28575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58225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708" y="3556000"/>
              <a:ext cx="10999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6280" y="4114800"/>
              <a:ext cx="880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Ask again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31083" y="3556000"/>
              <a:ext cx="19583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35655" y="4114800"/>
              <a:ext cx="1276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Wait, then ask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4808" y="3556000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9380" y="4114800"/>
              <a:ext cx="1517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Receive a 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4183" y="3556000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8755" y="4114800"/>
              <a:ext cx="134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Talk both ways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566" y="4616450"/>
              <a:ext cx="1423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REPEATED REQUESTS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666" y="4616450"/>
              <a:ext cx="1634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LONG-LIVED CHANNELS</a:t>
              </a:r>
            </a:p>
          </p:txBody>
        </p:sp>
      </p:grpSp>
      <p:grpSp>
        <p:nvGrpSpPr>
          <p:cNvPr id="26" name="takeaway"/>
          <p:cNvGrpSpPr/>
          <p:nvPr/>
        </p:nvGrpSpPr>
        <p:grpSpPr>
          <a:xfrm>
            <a:off x="597408" y="5403850"/>
            <a:ext cx="6075337" cy="469392"/>
            <a:chOff x="597408" y="5403850"/>
            <a:chExt cx="6075337" cy="469392"/>
          </a:xfrm>
        </p:grpSpPr>
        <p:sp>
          <p:nvSpPr>
            <p:cNvPr id="25" name="TextBox 25"/>
            <p:cNvSpPr txBox="1"/>
            <p:nvPr/>
          </p:nvSpPr>
          <p:spPr>
            <a:xfrm>
              <a:off x="597408" y="5403850"/>
              <a:ext cx="60753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Different trade-offs. </a:t>
              </a:r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 universal winner.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2217670" cy="1021588"/>
            <a:chOff x="591312" y="647700"/>
            <a:chExt cx="2217670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2207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1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16499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</p:grpSp>
      <p:grpSp>
        <p:nvGrpSpPr>
          <p:cNvPr id="20" name="sequence"/>
          <p:cNvGrpSpPr/>
          <p:nvPr/>
        </p:nvGrpSpPr>
        <p:grpSpPr>
          <a:xfrm>
            <a:off x="718566" y="2108200"/>
            <a:ext cx="5799762" cy="3628009"/>
            <a:chOff x="718566" y="2108200"/>
            <a:chExt cx="5799762" cy="3628009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1150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52600" y="29337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53955" y="2628900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1" name="Line 11"/>
            <p:cNvSpPr/>
            <p:nvPr/>
          </p:nvSpPr>
          <p:spPr>
            <a:xfrm flipH="1">
              <a:off x="1790700" y="3409950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83636" y="3114675"/>
              <a:ext cx="1081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changes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21205" y="3657600"/>
              <a:ext cx="1791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Wait for the interval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52600" y="42576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53955" y="3952875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47625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87875" y="4457700"/>
              <a:ext cx="872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New 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1205" y="5210175"/>
              <a:ext cx="642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53085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27" name="explanation"/>
          <p:cNvGrpSpPr/>
          <p:nvPr/>
        </p:nvGrpSpPr>
        <p:grpSpPr>
          <a:xfrm>
            <a:off x="7810500" y="2114550"/>
            <a:ext cx="2665832" cy="3524250"/>
            <a:chOff x="7810500" y="2114550"/>
            <a:chExt cx="2665832" cy="3524250"/>
          </a:xfrm>
        </p:grpSpPr>
        <p:sp>
          <p:nvSpPr>
            <p:cNvPr id="21" name="Rectangle 21"/>
            <p:cNvSpPr/>
            <p:nvPr/>
          </p:nvSpPr>
          <p:spPr>
            <a:xfrm>
              <a:off x="7810500" y="2114550"/>
              <a:ext cx="38100" cy="3524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03108" y="2219325"/>
              <a:ext cx="2025274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Ask at regular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intervals.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451225"/>
              <a:ext cx="1643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 HTTP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4632" y="4022725"/>
              <a:ext cx="2138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Empty responses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7680" y="4886325"/>
              <a:ext cx="1908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SHORTER INTERVAL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7680" y="5238750"/>
              <a:ext cx="2368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delay · More requests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2937474" cy="1021588"/>
            <a:chOff x="591312" y="647700"/>
            <a:chExt cx="2937474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2207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2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29374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</p:grpSp>
      <p:grpSp>
        <p:nvGrpSpPr>
          <p:cNvPr id="19" name="sequence"/>
          <p:cNvGrpSpPr/>
          <p:nvPr/>
        </p:nvGrpSpPr>
        <p:grpSpPr>
          <a:xfrm>
            <a:off x="718566" y="2108200"/>
            <a:ext cx="5799762" cy="3628009"/>
            <a:chOff x="718566" y="2108200"/>
            <a:chExt cx="5799762" cy="3628009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1150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52600" y="29337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53955" y="2628900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62650" y="3133725"/>
              <a:ext cx="304800" cy="1228725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47007" y="3438525"/>
              <a:ext cx="1518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Hold the request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0003" y="3762375"/>
              <a:ext cx="15054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Event or timeout</a:t>
              </a:r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790700" y="45053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15393" y="4200525"/>
              <a:ext cx="1817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 the response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52600" y="523875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09642" y="4933950"/>
              <a:ext cx="2029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Ask again immediately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566" y="553085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26" name="explanation"/>
          <p:cNvGrpSpPr/>
          <p:nvPr/>
        </p:nvGrpSpPr>
        <p:grpSpPr>
          <a:xfrm>
            <a:off x="7810500" y="2114550"/>
            <a:ext cx="3109966" cy="3524250"/>
            <a:chOff x="7810500" y="2114550"/>
            <a:chExt cx="3109966" cy="3524250"/>
          </a:xfrm>
        </p:grpSpPr>
        <p:sp>
          <p:nvSpPr>
            <p:cNvPr id="20" name="Rectangle 20"/>
            <p:cNvSpPr/>
            <p:nvPr/>
          </p:nvSpPr>
          <p:spPr>
            <a:xfrm>
              <a:off x="7810500" y="2114550"/>
              <a:ext cx="38100" cy="3524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03108" y="2219325"/>
              <a:ext cx="2817358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Wait for an update.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Then ask again.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451225"/>
              <a:ext cx="25281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Fewer empty replies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4022725"/>
              <a:ext cx="23481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Repeated requests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7680" y="4886325"/>
              <a:ext cx="227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STILL A REQUEST CYCLE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7680" y="5238750"/>
              <a:ext cx="184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Timeouts still matter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4349392" cy="1021588"/>
            <a:chOff x="591312" y="647700"/>
            <a:chExt cx="4349392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2207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3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3493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Server-Sent Events</a:t>
              </a:r>
            </a:p>
          </p:txBody>
        </p:sp>
      </p:grpSp>
      <p:grpSp>
        <p:nvGrpSpPr>
          <p:cNvPr id="20" name="sequence"/>
          <p:cNvGrpSpPr/>
          <p:nvPr/>
        </p:nvGrpSpPr>
        <p:grpSpPr>
          <a:xfrm>
            <a:off x="718566" y="2108200"/>
            <a:ext cx="5799762" cy="3843020"/>
            <a:chOff x="718566" y="2108200"/>
            <a:chExt cx="5799762" cy="3843020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3181350"/>
              <a:ext cx="4610100" cy="2324100"/>
            </a:xfrm>
            <a:prstGeom prst="roundRect">
              <a:avLst>
                <a:gd name="adj" fmla="val 49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33550" y="25527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115050" y="25527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52600" y="2924175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52681" y="2619375"/>
              <a:ext cx="2543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 an HTTP event stream</a:t>
              </a:r>
            </a:p>
          </p:txBody>
        </p:sp>
        <p:sp>
          <p:nvSpPr>
            <p:cNvPr id="12" name="Line 12"/>
            <p:cNvSpPr/>
            <p:nvPr/>
          </p:nvSpPr>
          <p:spPr>
            <a:xfrm flipH="1">
              <a:off x="1790700" y="3686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63973" y="3381375"/>
              <a:ext cx="920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reply</a:t>
              </a:r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790700" y="4448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12467" y="4143375"/>
              <a:ext cx="1223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mention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5210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6382" y="4905375"/>
              <a:ext cx="1235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Unread count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5331" y="5657850"/>
              <a:ext cx="3557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Client actions → separate HTTP requests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32130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31" name="explanation"/>
          <p:cNvGrpSpPr/>
          <p:nvPr/>
        </p:nvGrpSpPr>
        <p:grpSpPr>
          <a:xfrm>
            <a:off x="7810500" y="2114550"/>
            <a:ext cx="3099935" cy="3733800"/>
            <a:chOff x="7810500" y="2114550"/>
            <a:chExt cx="3099935" cy="3733800"/>
          </a:xfrm>
        </p:grpSpPr>
        <p:sp>
          <p:nvSpPr>
            <p:cNvPr id="21" name="Rectangle 21"/>
            <p:cNvSpPr/>
            <p:nvPr/>
          </p:nvSpPr>
          <p:spPr>
            <a:xfrm>
              <a:off x="7810500" y="2114550"/>
              <a:ext cx="38100" cy="3733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03108" y="2219325"/>
              <a:ext cx="2648560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open stream.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to browser.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172450" y="3338512"/>
              <a:ext cx="228600" cy="257176"/>
              <a:chOff x="8172450" y="3338512"/>
              <a:chExt cx="228600" cy="25717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72450" y="333851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43888" y="35385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83930" y="3362325"/>
              <a:ext cx="2326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FORUM NOTIFICATIONS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4632" y="3937000"/>
              <a:ext cx="1983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Auto-reconnect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7680" y="4324350"/>
              <a:ext cx="1604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 EventSource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7680" y="5029200"/>
              <a:ext cx="2188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RECONNECT ≠ REPLAY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7680" y="5381625"/>
              <a:ext cx="2037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Recover missed events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2640919" cy="1021588"/>
            <a:chOff x="591312" y="647700"/>
            <a:chExt cx="2640919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2207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4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26409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2" name="sequence"/>
          <p:cNvGrpSpPr/>
          <p:nvPr/>
        </p:nvGrpSpPr>
        <p:grpSpPr>
          <a:xfrm>
            <a:off x="718566" y="2108200"/>
            <a:ext cx="5799762" cy="3900170"/>
            <a:chOff x="718566" y="2108200"/>
            <a:chExt cx="5799762" cy="3900170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3352800"/>
              <a:ext cx="4610100" cy="2286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33550" y="2552700"/>
              <a:ext cx="9525" cy="3067050"/>
            </a:xfrm>
            <a:custGeom>
              <a:avLst/>
              <a:gdLst/>
              <a:ahLst/>
              <a:cxnLst/>
              <a:rect l="l" t="t" r="r" b="b"/>
              <a:pathLst>
                <a:path w="9525" h="3067050">
                  <a:moveTo>
                    <a:pt x="0" y="0"/>
                  </a:moveTo>
                  <a:lnTo>
                    <a:pt x="0" y="3067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115050" y="2552700"/>
              <a:ext cx="9525" cy="3067050"/>
            </a:xfrm>
            <a:custGeom>
              <a:avLst/>
              <a:gdLst/>
              <a:ahLst/>
              <a:cxnLst/>
              <a:rect l="l" t="t" r="r" b="b"/>
              <a:pathLst>
                <a:path w="9525" h="3067050">
                  <a:moveTo>
                    <a:pt x="0" y="0"/>
                  </a:moveTo>
                  <a:lnTo>
                    <a:pt x="0" y="3067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52600" y="2828925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44099" y="2524125"/>
              <a:ext cx="76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</a:t>
              </a:r>
            </a:p>
          </p:txBody>
        </p:sp>
        <p:sp>
          <p:nvSpPr>
            <p:cNvPr id="12" name="Line 12"/>
            <p:cNvSpPr/>
            <p:nvPr/>
          </p:nvSpPr>
          <p:spPr>
            <a:xfrm flipH="1">
              <a:off x="1790700" y="3181350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74150" y="2886075"/>
              <a:ext cx="210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Connection established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52600" y="37814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94499" y="3476625"/>
              <a:ext cx="14596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Send a message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4448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79522" y="4143375"/>
              <a:ext cx="1689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Receive a message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752600" y="51149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36976" y="4810125"/>
              <a:ext cx="774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Typing…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4793" y="5715000"/>
              <a:ext cx="3119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sides can send independently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566" y="5387975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31" name="explanation"/>
          <p:cNvGrpSpPr/>
          <p:nvPr/>
        </p:nvGrpSpPr>
        <p:grpSpPr>
          <a:xfrm>
            <a:off x="7810500" y="2114550"/>
            <a:ext cx="2916933" cy="3733800"/>
            <a:chOff x="7810500" y="2114550"/>
            <a:chExt cx="2916933" cy="3733800"/>
          </a:xfrm>
        </p:grpSpPr>
        <p:sp>
          <p:nvSpPr>
            <p:cNvPr id="23" name="Rectangle 23"/>
            <p:cNvSpPr/>
            <p:nvPr/>
          </p:nvSpPr>
          <p:spPr>
            <a:xfrm>
              <a:off x="7810500" y="2114550"/>
              <a:ext cx="38100" cy="3733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03108" y="2219325"/>
              <a:ext cx="2360127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connection.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Both directions.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143532" y="334172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83930" y="3362325"/>
              <a:ext cx="1455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MEMBER CHAT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4632" y="3937000"/>
              <a:ext cx="23926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Messages + typing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7680" y="4324350"/>
              <a:ext cx="2619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new request per message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7680" y="5029200"/>
              <a:ext cx="2596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SENT ≠ DELIVERED ≠ READ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7680" y="5381625"/>
              <a:ext cx="2448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Delivery is application logic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4907287" cy="1021588"/>
            <a:chOff x="591312" y="647700"/>
            <a:chExt cx="4907287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37533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LESSONS LEARNED &amp;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9072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Build for Disconnects</a:t>
              </a:r>
            </a:p>
          </p:txBody>
        </p:sp>
      </p:grpSp>
      <p:grpSp>
        <p:nvGrpSpPr>
          <p:cNvPr id="26" name="recovery-path"/>
          <p:cNvGrpSpPr/>
          <p:nvPr/>
        </p:nvGrpSpPr>
        <p:grpSpPr>
          <a:xfrm>
            <a:off x="1376277" y="2352675"/>
            <a:ext cx="9925247" cy="1814068"/>
            <a:chOff x="1376277" y="2352675"/>
            <a:chExt cx="9925247" cy="1814068"/>
          </a:xfrm>
        </p:grpSpPr>
        <p:grpSp>
          <p:nvGrpSpPr>
            <p:cNvPr id="10" name="Group 10"/>
            <p:cNvGrpSpPr/>
            <p:nvPr/>
          </p:nvGrpSpPr>
          <p:grpSpPr>
            <a:xfrm>
              <a:off x="1971675" y="2352675"/>
              <a:ext cx="514350" cy="514350"/>
              <a:chOff x="1971675" y="2352675"/>
              <a:chExt cx="514350" cy="5143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2228850" y="2781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86" y="0"/>
                    </a:ln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2148040" y="2655869"/>
                <a:ext cx="161620" cy="44621"/>
              </a:xfrm>
              <a:custGeom>
                <a:avLst/>
                <a:gdLst/>
                <a:ahLst/>
                <a:cxnLst/>
                <a:rect l="l" t="t" r="r" b="b"/>
                <a:pathLst>
                  <a:path w="161620" h="44621">
                    <a:moveTo>
                      <a:pt x="0" y="44621"/>
                    </a:moveTo>
                    <a:cubicBezTo>
                      <a:pt x="44634" y="0"/>
                      <a:pt x="116986" y="0"/>
                      <a:pt x="161620" y="44621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2067201" y="2558501"/>
                <a:ext cx="323298" cy="61579"/>
              </a:xfrm>
              <a:custGeom>
                <a:avLst/>
                <a:gdLst/>
                <a:ahLst/>
                <a:cxnLst/>
                <a:rect l="l" t="t" r="r" b="b"/>
                <a:pathLst>
                  <a:path w="323298" h="61579">
                    <a:moveTo>
                      <a:pt x="0" y="61151"/>
                    </a:moveTo>
                    <a:cubicBezTo>
                      <a:pt x="30302" y="30763"/>
                      <a:pt x="68579" y="9564"/>
                      <a:pt x="110414" y="0"/>
                    </a:cubicBezTo>
                    <a:moveTo>
                      <a:pt x="229372" y="4429"/>
                    </a:moveTo>
                    <a:cubicBezTo>
                      <a:pt x="264880" y="15517"/>
                      <a:pt x="297130" y="35140"/>
                      <a:pt x="323298" y="61579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986391" y="2425640"/>
                <a:ext cx="484918" cy="113202"/>
              </a:xfrm>
              <a:custGeom>
                <a:avLst/>
                <a:gdLst/>
                <a:ahLst/>
                <a:cxnLst/>
                <a:rect l="l" t="t" r="r" b="b"/>
                <a:pathLst>
                  <a:path w="484918" h="113202">
                    <a:moveTo>
                      <a:pt x="0" y="113202"/>
                    </a:moveTo>
                    <a:cubicBezTo>
                      <a:pt x="29245" y="83896"/>
                      <a:pt x="63555" y="60128"/>
                      <a:pt x="101270" y="43050"/>
                    </a:cubicBezTo>
                    <a:moveTo>
                      <a:pt x="189881" y="16761"/>
                    </a:moveTo>
                    <a:cubicBezTo>
                      <a:pt x="297975" y="0"/>
                      <a:pt x="407579" y="35817"/>
                      <a:pt x="484918" y="113173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71675" y="235267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0"/>
                    </a:moveTo>
                    <a:lnTo>
                      <a:pt x="514350" y="514350"/>
                    </a:ln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76277" y="3213100"/>
              <a:ext cx="17051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Disconnect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3510" y="3756025"/>
              <a:ext cx="13906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Show state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505200" y="2628900"/>
              <a:ext cx="1257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29300" y="2370225"/>
              <a:ext cx="457200" cy="479250"/>
              <a:chOff x="5829300" y="2370225"/>
              <a:chExt cx="457200" cy="4792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29300" y="2370225"/>
                <a:ext cx="457200" cy="21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11050">
                    <a:moveTo>
                      <a:pt x="457200" y="211050"/>
                    </a:moveTo>
                    <a:cubicBezTo>
                      <a:pt x="442835" y="107681"/>
                      <a:pt x="361070" y="26711"/>
                      <a:pt x="257566" y="13355"/>
                    </a:cubicBezTo>
                    <a:cubicBezTo>
                      <a:pt x="154061" y="0"/>
                      <a:pt x="54421" y="57563"/>
                      <a:pt x="14288" y="153900"/>
                    </a:cubicBezTo>
                    <a:moveTo>
                      <a:pt x="0" y="39600"/>
                    </a:moveTo>
                    <a:lnTo>
                      <a:pt x="0" y="153900"/>
                    </a:lnTo>
                    <a:lnTo>
                      <a:pt x="114300" y="1539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29300" y="2638425"/>
                <a:ext cx="457200" cy="21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11050">
                    <a:moveTo>
                      <a:pt x="0" y="0"/>
                    </a:moveTo>
                    <a:cubicBezTo>
                      <a:pt x="14365" y="103369"/>
                      <a:pt x="96130" y="184339"/>
                      <a:pt x="199634" y="197695"/>
                    </a:cubicBezTo>
                    <a:cubicBezTo>
                      <a:pt x="303139" y="211050"/>
                      <a:pt x="402779" y="153487"/>
                      <a:pt x="442912" y="57150"/>
                    </a:cubicBezTo>
                    <a:moveTo>
                      <a:pt x="457200" y="171450"/>
                    </a:moveTo>
                    <a:lnTo>
                      <a:pt x="457200" y="57150"/>
                    </a:lnTo>
                    <a:lnTo>
                      <a:pt x="342900" y="5715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48302" y="3213100"/>
              <a:ext cx="1619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Reconnect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1923" y="3756025"/>
              <a:ext cx="18719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Backoff + jitter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334250" y="2628900"/>
              <a:ext cx="1257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658350" y="2352675"/>
              <a:ext cx="457200" cy="514350"/>
              <a:chOff x="9658350" y="2352675"/>
              <a:chExt cx="457200" cy="5143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58350" y="2352675"/>
                <a:ext cx="457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71450">
                    <a:moveTo>
                      <a:pt x="0" y="85725"/>
                    </a:moveTo>
                    <a:cubicBezTo>
                      <a:pt x="0" y="133070"/>
                      <a:pt x="102348" y="171450"/>
                      <a:pt x="228600" y="171450"/>
                    </a:cubicBezTo>
                    <a:cubicBezTo>
                      <a:pt x="354852" y="171450"/>
                      <a:pt x="457200" y="133070"/>
                      <a:pt x="457200" y="85725"/>
                    </a:cubicBezTo>
                    <a:cubicBezTo>
                      <a:pt x="457200" y="38380"/>
                      <a:pt x="354852" y="0"/>
                      <a:pt x="228600" y="0"/>
                    </a:cubicBezTo>
                    <a:cubicBezTo>
                      <a:pt x="102348" y="0"/>
                      <a:pt x="0" y="38380"/>
                      <a:pt x="0" y="85725"/>
                    </a:cubicBez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658350" y="2438400"/>
                <a:ext cx="4572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57175">
                    <a:moveTo>
                      <a:pt x="0" y="0"/>
                    </a:moveTo>
                    <a:lnTo>
                      <a:pt x="0" y="171450"/>
                    </a:lnTo>
                    <a:cubicBezTo>
                      <a:pt x="0" y="218795"/>
                      <a:pt x="102348" y="257175"/>
                      <a:pt x="228600" y="257175"/>
                    </a:cubicBezTo>
                    <a:cubicBezTo>
                      <a:pt x="354852" y="257175"/>
                      <a:pt x="457200" y="218795"/>
                      <a:pt x="457200" y="171450"/>
                    </a:cubicBezTo>
                    <a:lnTo>
                      <a:pt x="4572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658350" y="2609850"/>
                <a:ext cx="4572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57175">
                    <a:moveTo>
                      <a:pt x="0" y="0"/>
                    </a:moveTo>
                    <a:lnTo>
                      <a:pt x="0" y="171450"/>
                    </a:lnTo>
                    <a:cubicBezTo>
                      <a:pt x="0" y="218795"/>
                      <a:pt x="102348" y="257175"/>
                      <a:pt x="228600" y="257175"/>
                    </a:cubicBezTo>
                    <a:cubicBezTo>
                      <a:pt x="354852" y="257175"/>
                      <a:pt x="457200" y="218795"/>
                      <a:pt x="457200" y="171450"/>
                    </a:cubicBezTo>
                    <a:lnTo>
                      <a:pt x="4572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261448" y="3213100"/>
              <a:ext cx="12510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Recover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2375" y="3756025"/>
              <a:ext cx="28291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Resume + deduplicate</a:t>
              </a:r>
            </a:p>
          </p:txBody>
        </p:sp>
      </p:grpSp>
      <p:grpSp>
        <p:nvGrpSpPr>
          <p:cNvPr id="30" name="principle"/>
          <p:cNvGrpSpPr/>
          <p:nvPr/>
        </p:nvGrpSpPr>
        <p:grpSpPr>
          <a:xfrm>
            <a:off x="609600" y="4914900"/>
            <a:ext cx="10972800" cy="1047750"/>
            <a:chOff x="609600" y="4914900"/>
            <a:chExt cx="10972800" cy="1047750"/>
          </a:xfrm>
        </p:grpSpPr>
        <p:sp>
          <p:nvSpPr>
            <p:cNvPr id="27" name="Rectangle 27"/>
            <p:cNvSpPr/>
            <p:nvPr/>
          </p:nvSpPr>
          <p:spPr>
            <a:xfrm>
              <a:off x="609600" y="4914900"/>
              <a:ext cx="10972800" cy="10477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2208" y="5213350"/>
              <a:ext cx="3423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Reconnect ≠ recovery.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0207" y="5260975"/>
              <a:ext cx="3098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Persist important events.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647700"/>
            <a:ext cx="4033646" cy="1021588"/>
            <a:chOff x="591312" y="647700"/>
            <a:chExt cx="4033646" cy="1021588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47700"/>
              <a:ext cx="37533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LESSONS LEARNED &amp;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0336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Choose What Fits</a:t>
              </a:r>
            </a:p>
          </p:txBody>
        </p:sp>
      </p:grpSp>
      <p:grpSp>
        <p:nvGrpSpPr>
          <p:cNvPr id="16" name="choices"/>
          <p:cNvGrpSpPr/>
          <p:nvPr/>
        </p:nvGrpSpPr>
        <p:grpSpPr>
          <a:xfrm>
            <a:off x="597408" y="2279650"/>
            <a:ext cx="6327267" cy="2298192"/>
            <a:chOff x="597408" y="2279650"/>
            <a:chExt cx="6327267" cy="22981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279650"/>
              <a:ext cx="24124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Periodic updates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62325" y="24765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64558" y="2279650"/>
              <a:ext cx="10999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952750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0" y="0"/>
                  </a:moveTo>
                  <a:lnTo>
                    <a:pt x="63150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3194050"/>
              <a:ext cx="17040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Server push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62325" y="33909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64558" y="3194050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867150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0" y="0"/>
                  </a:moveTo>
                  <a:lnTo>
                    <a:pt x="63150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4108450"/>
              <a:ext cx="15167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Interactive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362325" y="43053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64558" y="4108450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8" name="guardrails"/>
          <p:cNvGrpSpPr/>
          <p:nvPr/>
        </p:nvGrpSpPr>
        <p:grpSpPr>
          <a:xfrm>
            <a:off x="7620000" y="2095500"/>
            <a:ext cx="3962400" cy="2876550"/>
            <a:chOff x="7620000" y="2095500"/>
            <a:chExt cx="3962400" cy="2876550"/>
          </a:xfrm>
        </p:grpSpPr>
        <p:sp>
          <p:nvSpPr>
            <p:cNvPr id="17" name="Rectangle 17"/>
            <p:cNvSpPr/>
            <p:nvPr/>
          </p:nvSpPr>
          <p:spPr>
            <a:xfrm>
              <a:off x="7620000" y="2095500"/>
              <a:ext cx="3962400" cy="2876550"/>
            </a:xfrm>
            <a:prstGeom prst="roundRect">
              <a:avLst>
                <a:gd name="adj" fmla="val 397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985125" y="2473856"/>
              <a:ext cx="241299" cy="252937"/>
              <a:chOff x="7985125" y="2473856"/>
              <a:chExt cx="241299" cy="25293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985125" y="247385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241299" y="111387"/>
                    </a:moveTo>
                    <a:cubicBezTo>
                      <a:pt x="233718" y="56832"/>
                      <a:pt x="190564" y="14097"/>
                      <a:pt x="135937" y="7049"/>
                    </a:cubicBezTo>
                    <a:cubicBezTo>
                      <a:pt x="81310" y="0"/>
                      <a:pt x="28722" y="30381"/>
                      <a:pt x="7541" y="81225"/>
                    </a:cubicBezTo>
                    <a:moveTo>
                      <a:pt x="0" y="20900"/>
                    </a:moveTo>
                    <a:lnTo>
                      <a:pt x="0" y="81225"/>
                    </a:lnTo>
                    <a:lnTo>
                      <a:pt x="60325" y="81225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985125" y="261540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0" y="0"/>
                    </a:moveTo>
                    <a:cubicBezTo>
                      <a:pt x="7582" y="54556"/>
                      <a:pt x="50735" y="97290"/>
                      <a:pt x="105362" y="104339"/>
                    </a:cubicBezTo>
                    <a:cubicBezTo>
                      <a:pt x="159990" y="111387"/>
                      <a:pt x="212577" y="81007"/>
                      <a:pt x="233759" y="30162"/>
                    </a:cubicBezTo>
                    <a:moveTo>
                      <a:pt x="241299" y="90487"/>
                    </a:moveTo>
                    <a:lnTo>
                      <a:pt x="241299" y="30162"/>
                    </a:lnTo>
                    <a:lnTo>
                      <a:pt x="180975" y="30162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485632" y="2432050"/>
              <a:ext cx="23561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Reuse connections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17180" y="2943225"/>
              <a:ext cx="1808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one per widget.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949691" y="3588544"/>
              <a:ext cx="294509" cy="271462"/>
              <a:chOff x="7949691" y="3588544"/>
              <a:chExt cx="294509" cy="2714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49691" y="358854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51018" y="37996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485632" y="3556000"/>
              <a:ext cx="21969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Authorize actions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17180" y="4067175"/>
              <a:ext cx="3053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Never trust client-supplied rooms.</a:t>
              </a:r>
            </a:p>
          </p:txBody>
        </p:sp>
      </p:grpSp>
      <p:grpSp>
        <p:nvGrpSpPr>
          <p:cNvPr id="30" name="tradeoff"/>
          <p:cNvGrpSpPr/>
          <p:nvPr/>
        </p:nvGrpSpPr>
        <p:grpSpPr>
          <a:xfrm>
            <a:off x="597408" y="5403850"/>
            <a:ext cx="6640136" cy="469392"/>
            <a:chOff x="597408" y="5403850"/>
            <a:chExt cx="6640136" cy="469392"/>
          </a:xfrm>
        </p:grpSpPr>
        <p:sp>
          <p:nvSpPr>
            <p:cNvPr id="29" name="TextBox 29"/>
            <p:cNvSpPr txBox="1"/>
            <p:nvPr/>
          </p:nvSpPr>
          <p:spPr>
            <a:xfrm>
              <a:off x="597408" y="5403850"/>
              <a:ext cx="6640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Less polling. </a:t>
              </a:r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More connection management.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title"/>
          <p:cNvGrpSpPr/>
          <p:nvPr/>
        </p:nvGrpSpPr>
        <p:grpSpPr>
          <a:xfrm>
            <a:off x="552450" y="1028700"/>
            <a:ext cx="4910448" cy="2079625"/>
            <a:chOff x="552450" y="1028700"/>
            <a:chExt cx="4910448" cy="2079625"/>
          </a:xfrm>
        </p:grpSpPr>
        <p:sp>
          <p:nvSpPr>
            <p:cNvPr id="2" name="Rectangle 2"/>
            <p:cNvSpPr/>
            <p:nvPr/>
          </p:nvSpPr>
          <p:spPr>
            <a:xfrm>
              <a:off x="609600" y="1028700"/>
              <a:ext cx="5524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980" y="1409700"/>
              <a:ext cx="2093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SEE IT IN ACTION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2450" y="2060575"/>
              <a:ext cx="491044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Demo &amp; Q&amp;A</a:t>
              </a:r>
            </a:p>
          </p:txBody>
        </p:sp>
      </p:grpSp>
      <p:grpSp>
        <p:nvGrpSpPr>
          <p:cNvPr id="7" name="closing-prompt"/>
          <p:cNvGrpSpPr/>
          <p:nvPr/>
        </p:nvGrpSpPr>
        <p:grpSpPr>
          <a:xfrm>
            <a:off x="597408" y="3517900"/>
            <a:ext cx="6348479" cy="469392"/>
            <a:chOff x="597408" y="3517900"/>
            <a:chExt cx="6348479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3517900"/>
              <a:ext cx="6348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Watch the connection. Follow the messages.</a:t>
              </a:r>
            </a:p>
          </p:txBody>
        </p:sp>
      </p:grpSp>
      <p:grpSp>
        <p:nvGrpSpPr>
          <p:cNvPr id="17" name="methods"/>
          <p:cNvGrpSpPr/>
          <p:nvPr/>
        </p:nvGrpSpPr>
        <p:grpSpPr>
          <a:xfrm>
            <a:off x="598932" y="4629150"/>
            <a:ext cx="10716768" cy="861568"/>
            <a:chOff x="598932" y="4629150"/>
            <a:chExt cx="10716768" cy="861568"/>
          </a:xfrm>
        </p:grpSpPr>
        <p:sp>
          <p:nvSpPr>
            <p:cNvPr id="8" name="Line 8"/>
            <p:cNvSpPr/>
            <p:nvPr/>
          </p:nvSpPr>
          <p:spPr>
            <a:xfrm>
              <a:off x="762000" y="4695825"/>
              <a:ext cx="105537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84772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66712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877050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47737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5080000"/>
              <a:ext cx="8841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04007" y="5080000"/>
              <a:ext cx="1595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8257" y="5080000"/>
              <a:ext cx="4897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42832" y="5080000"/>
              <a:ext cx="1447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altime_web">
  <a:themeElements>
    <a:clrScheme name="realtime_web">
      <a:dk1>
        <a:srgbClr val="243B53"/>
      </a:dk1>
      <a:lt1>
        <a:srgbClr val="F7F9FC"/>
      </a:lt1>
      <a:dk2>
        <a:srgbClr val="1F497D"/>
      </a:dk2>
      <a:lt2>
        <a:srgbClr val="E8F4F8"/>
      </a:lt2>
      <a:accent1>
        <a:srgbClr val="102A43"/>
      </a:accent1>
      <a:accent2>
        <a:srgbClr val="007F9E"/>
      </a:accent2>
      <a:accent3>
        <a:srgbClr val="15836B"/>
      </a:accent3>
      <a:accent4>
        <a:srgbClr val="102A43"/>
      </a:accent4>
      <a:accent5>
        <a:srgbClr val="526B80"/>
      </a:accent5>
      <a:accent6>
        <a:srgbClr val="CAD7E2"/>
      </a:accent6>
      <a:hlink>
        <a:srgbClr val="007F9E"/>
      </a:hlink>
      <a:folHlink>
        <a:srgbClr val="15836B"/>
      </a:folHlink>
    </a:clrScheme>
    <a:fontScheme name="realtime_web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altime_we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2026-10-07T14:22:48Z</dcterms:created>
  <dcterms:modified xsi:type="dcterms:W3CDTF">2026-10-07T14:22:48Z</dcterms:modified>
  <cp:category/>
  <cp:contentStatus/>
</cp:coreProperties>
</file>