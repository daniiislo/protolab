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e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F4BD5E-CA64-1597-1257-D40010619267}" v="149" dt="2026-10-16T03:18:27.314"/>
    <p1510:client id="{ED7BB4BA-4E28-7097-5881-1B249348EB8A}" v="31" dt="2026-10-16T02:27:47.8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vian Nguyen" userId="S::tavian.n@itcgroup.io::aa81296b-9269-404a-b3a4-a824e4f2ee15" providerId="AD" clId="Web-{ED7BB4BA-4E28-7097-5881-1B249348EB8A}"/>
    <pc:docChg chg="modSld">
      <pc:chgData name="Tavian Nguyen" userId="S::tavian.n@itcgroup.io::aa81296b-9269-404a-b3a4-a824e4f2ee15" providerId="AD" clId="Web-{ED7BB4BA-4E28-7097-5881-1B249348EB8A}" dt="2026-10-16T02:27:47.836" v="29" actId="1076"/>
      <pc:docMkLst>
        <pc:docMk/>
      </pc:docMkLst>
      <pc:sldChg chg="delSp modSp">
        <pc:chgData name="Tavian Nguyen" userId="S::tavian.n@itcgroup.io::aa81296b-9269-404a-b3a4-a824e4f2ee15" providerId="AD" clId="Web-{ED7BB4BA-4E28-7097-5881-1B249348EB8A}" dt="2026-10-16T02:27:47.836" v="29" actId="1076"/>
        <pc:sldMkLst>
          <pc:docMk/>
          <pc:sldMk cId="0" sldId="266"/>
        </pc:sldMkLst>
        <pc:spChg chg="mod">
          <ac:chgData name="Tavian Nguyen" userId="S::tavian.n@itcgroup.io::aa81296b-9269-404a-b3a4-a824e4f2ee15" providerId="AD" clId="Web-{ED7BB4BA-4E28-7097-5881-1B249348EB8A}" dt="2026-10-16T02:27:47.398" v="18" actId="1076"/>
          <ac:spMkLst>
            <pc:docMk/>
            <pc:sldMk cId="0" sldId="266"/>
            <ac:spMk id="34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429" v="19" actId="1076"/>
          <ac:spMkLst>
            <pc:docMk/>
            <pc:sldMk cId="0" sldId="266"/>
            <ac:spMk id="35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476" v="20" actId="1076"/>
          <ac:spMkLst>
            <pc:docMk/>
            <pc:sldMk cId="0" sldId="266"/>
            <ac:spMk id="36" creationId="{00000000-0000-0000-0000-000000000000}"/>
          </ac:spMkLst>
        </pc:spChg>
        <pc:spChg chg="del mod">
          <ac:chgData name="Tavian Nguyen" userId="S::tavian.n@itcgroup.io::aa81296b-9269-404a-b3a4-a824e4f2ee15" providerId="AD" clId="Web-{ED7BB4BA-4E28-7097-5881-1B249348EB8A}" dt="2026-10-16T02:27:02.351" v="2"/>
          <ac:spMkLst>
            <pc:docMk/>
            <pc:sldMk cId="0" sldId="266"/>
            <ac:spMk id="37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508" v="21" actId="1076"/>
          <ac:spMkLst>
            <pc:docMk/>
            <pc:sldMk cId="0" sldId="266"/>
            <ac:spMk id="39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554" v="22" actId="1076"/>
          <ac:spMkLst>
            <pc:docMk/>
            <pc:sldMk cId="0" sldId="266"/>
            <ac:spMk id="40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586" v="23" actId="1076"/>
          <ac:spMkLst>
            <pc:docMk/>
            <pc:sldMk cId="0" sldId="266"/>
            <ac:spMk id="41" creationId="{00000000-0000-0000-0000-000000000000}"/>
          </ac:spMkLst>
        </pc:spChg>
        <pc:spChg chg="del">
          <ac:chgData name="Tavian Nguyen" userId="S::tavian.n@itcgroup.io::aa81296b-9269-404a-b3a4-a824e4f2ee15" providerId="AD" clId="Web-{ED7BB4BA-4E28-7097-5881-1B249348EB8A}" dt="2026-10-16T02:27:09.788" v="3"/>
          <ac:spMkLst>
            <pc:docMk/>
            <pc:sldMk cId="0" sldId="266"/>
            <ac:spMk id="42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633" v="24" actId="1076"/>
          <ac:spMkLst>
            <pc:docMk/>
            <pc:sldMk cId="0" sldId="266"/>
            <ac:spMk id="44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664" v="25" actId="1076"/>
          <ac:spMkLst>
            <pc:docMk/>
            <pc:sldMk cId="0" sldId="266"/>
            <ac:spMk id="45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711" v="26" actId="1076"/>
          <ac:spMkLst>
            <pc:docMk/>
            <pc:sldMk cId="0" sldId="266"/>
            <ac:spMk id="46" creationId="{00000000-0000-0000-0000-000000000000}"/>
          </ac:spMkLst>
        </pc:spChg>
        <pc:spChg chg="del">
          <ac:chgData name="Tavian Nguyen" userId="S::tavian.n@itcgroup.io::aa81296b-9269-404a-b3a4-a824e4f2ee15" providerId="AD" clId="Web-{ED7BB4BA-4E28-7097-5881-1B249348EB8A}" dt="2026-10-16T02:27:16.117" v="4"/>
          <ac:spMkLst>
            <pc:docMk/>
            <pc:sldMk cId="0" sldId="266"/>
            <ac:spMk id="47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758" v="27" actId="1076"/>
          <ac:spMkLst>
            <pc:docMk/>
            <pc:sldMk cId="0" sldId="266"/>
            <ac:spMk id="49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789" v="28" actId="1076"/>
          <ac:spMkLst>
            <pc:docMk/>
            <pc:sldMk cId="0" sldId="266"/>
            <ac:spMk id="50" creationId="{00000000-0000-0000-0000-000000000000}"/>
          </ac:spMkLst>
        </pc:spChg>
        <pc:spChg chg="mod">
          <ac:chgData name="Tavian Nguyen" userId="S::tavian.n@itcgroup.io::aa81296b-9269-404a-b3a4-a824e4f2ee15" providerId="AD" clId="Web-{ED7BB4BA-4E28-7097-5881-1B249348EB8A}" dt="2026-10-16T02:27:47.836" v="29" actId="1076"/>
          <ac:spMkLst>
            <pc:docMk/>
            <pc:sldMk cId="0" sldId="266"/>
            <ac:spMk id="51" creationId="{00000000-0000-0000-0000-000000000000}"/>
          </ac:spMkLst>
        </pc:spChg>
        <pc:spChg chg="del">
          <ac:chgData name="Tavian Nguyen" userId="S::tavian.n@itcgroup.io::aa81296b-9269-404a-b3a4-a824e4f2ee15" providerId="AD" clId="Web-{ED7BB4BA-4E28-7097-5881-1B249348EB8A}" dt="2026-10-16T02:27:19.101" v="5"/>
          <ac:spMkLst>
            <pc:docMk/>
            <pc:sldMk cId="0" sldId="266"/>
            <ac:spMk id="52" creationId="{00000000-0000-0000-0000-000000000000}"/>
          </ac:spMkLst>
        </pc:spChg>
      </pc:sldChg>
    </pc:docChg>
  </pc:docChgLst>
  <pc:docChgLst>
    <pc:chgData name="Tavian Nguyen" userId="S::tavian.n@itcgroup.io::aa81296b-9269-404a-b3a4-a824e4f2ee15" providerId="AD" clId="Web-{77F4BD5E-CA64-1597-1257-D40010619267}"/>
    <pc:docChg chg="modSld">
      <pc:chgData name="Tavian Nguyen" userId="S::tavian.n@itcgroup.io::aa81296b-9269-404a-b3a4-a824e4f2ee15" providerId="AD" clId="Web-{77F4BD5E-CA64-1597-1257-D40010619267}" dt="2026-10-16T03:18:26.377" v="85" actId="20577"/>
      <pc:docMkLst>
        <pc:docMk/>
      </pc:docMkLst>
      <pc:sldChg chg="modSp">
        <pc:chgData name="Tavian Nguyen" userId="S::tavian.n@itcgroup.io::aa81296b-9269-404a-b3a4-a824e4f2ee15" providerId="AD" clId="Web-{77F4BD5E-CA64-1597-1257-D40010619267}" dt="2026-10-16T03:18:26.377" v="85" actId="20577"/>
        <pc:sldMkLst>
          <pc:docMk/>
          <pc:sldMk cId="0" sldId="257"/>
        </pc:sldMkLst>
        <pc:spChg chg="mod">
          <ac:chgData name="Tavian Nguyen" userId="S::tavian.n@itcgroup.io::aa81296b-9269-404a-b3a4-a824e4f2ee15" providerId="AD" clId="Web-{77F4BD5E-CA64-1597-1257-D40010619267}" dt="2026-10-16T03:18:26.377" v="85" actId="20577"/>
          <ac:spMkLst>
            <pc:docMk/>
            <pc:sldMk cId="0" sldId="257"/>
            <ac:spMk id="18" creationId="{00000000-0000-0000-0000-000000000000}"/>
          </ac:spMkLst>
        </pc:spChg>
      </pc:sldChg>
      <pc:sldChg chg="modSp">
        <pc:chgData name="Tavian Nguyen" userId="S::tavian.n@itcgroup.io::aa81296b-9269-404a-b3a4-a824e4f2ee15" providerId="AD" clId="Web-{77F4BD5E-CA64-1597-1257-D40010619267}" dt="2026-10-16T03:17:34.298" v="77" actId="1076"/>
        <pc:sldMkLst>
          <pc:docMk/>
          <pc:sldMk cId="0" sldId="266"/>
        </pc:sldMkLst>
        <pc:spChg chg="mod">
          <ac:chgData name="Tavian Nguyen" userId="S::tavian.n@itcgroup.io::aa81296b-9269-404a-b3a4-a824e4f2ee15" providerId="AD" clId="Web-{77F4BD5E-CA64-1597-1257-D40010619267}" dt="2026-10-16T02:59:14.290" v="75" actId="20577"/>
          <ac:spMkLst>
            <pc:docMk/>
            <pc:sldMk cId="0" sldId="266"/>
            <ac:spMk id="56" creationId="{00000000-0000-0000-0000-000000000000}"/>
          </ac:spMkLst>
        </pc:spChg>
        <pc:spChg chg="mod">
          <ac:chgData name="Tavian Nguyen" userId="S::tavian.n@itcgroup.io::aa81296b-9269-404a-b3a4-a824e4f2ee15" providerId="AD" clId="Web-{77F4BD5E-CA64-1597-1257-D40010619267}" dt="2026-10-16T03:17:34.298" v="77" actId="1076"/>
          <ac:spMkLst>
            <pc:docMk/>
            <pc:sldMk cId="0" sldId="266"/>
            <ac:spMk id="59" creationId="{00000000-0000-0000-0000-000000000000}"/>
          </ac:spMkLst>
        </pc:spChg>
      </pc:sldChg>
      <pc:sldChg chg="modSp">
        <pc:chgData name="Tavian Nguyen" userId="S::tavian.n@itcgroup.io::aa81296b-9269-404a-b3a4-a824e4f2ee15" providerId="AD" clId="Web-{77F4BD5E-CA64-1597-1257-D40010619267}" dt="2026-10-16T03:18:13.877" v="83" actId="20577"/>
        <pc:sldMkLst>
          <pc:docMk/>
          <pc:sldMk cId="0" sldId="267"/>
        </pc:sldMkLst>
        <pc:spChg chg="mod">
          <ac:chgData name="Tavian Nguyen" userId="S::tavian.n@itcgroup.io::aa81296b-9269-404a-b3a4-a824e4f2ee15" providerId="AD" clId="Web-{77F4BD5E-CA64-1597-1257-D40010619267}" dt="2026-10-16T03:18:13.877" v="83" actId="20577"/>
          <ac:spMkLst>
            <pc:docMk/>
            <pc:sldMk cId="0" sldId="267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realtime_web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10/15/2026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realtime_web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10/15/2026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en"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en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en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en" sz="185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en"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en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en" sz="14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en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en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en"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lang="en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en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en" sz="18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en"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en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en" sz="14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en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en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en" sz="10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52450" y="800100"/>
            <a:ext cx="5160546" cy="3765550"/>
            <a:chOff x="552450" y="800100"/>
            <a:chExt cx="5160546" cy="3765550"/>
          </a:xfrm>
        </p:grpSpPr>
        <p:sp>
          <p:nvSpPr>
            <p:cNvPr id="2" name="Rectangle 2"/>
            <p:cNvSpPr/>
            <p:nvPr/>
          </p:nvSpPr>
          <p:spPr>
            <a:xfrm>
              <a:off x="609600" y="800100"/>
              <a:ext cx="5524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2450" y="1841500"/>
              <a:ext cx="5160546" cy="272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6600"/>
                </a:lnSpc>
              </a:pPr>
              <a:r>
                <a:rPr lang="en" sz="5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Real-time</a:t>
              </a:r>
              <a:br>
                <a:rPr lang="en" sz="5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en" sz="5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Communication</a:t>
              </a:r>
              <a:br>
                <a:rPr lang="en" sz="5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en" sz="5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on the Web</a:t>
              </a:r>
            </a:p>
          </p:txBody>
        </p:sp>
      </p:grpSp>
      <p:grpSp>
        <p:nvGrpSpPr>
          <p:cNvPr id="15" name="signal"/>
          <p:cNvGrpSpPr/>
          <p:nvPr/>
        </p:nvGrpSpPr>
        <p:grpSpPr>
          <a:xfrm>
            <a:off x="9096375" y="1790700"/>
            <a:ext cx="2190750" cy="3086100"/>
            <a:chOff x="9096375" y="1790700"/>
            <a:chExt cx="2190750" cy="3086100"/>
          </a:xfrm>
        </p:grpSpPr>
        <p:sp>
          <p:nvSpPr>
            <p:cNvPr id="5" name="Rectangle 5"/>
            <p:cNvSpPr/>
            <p:nvPr/>
          </p:nvSpPr>
          <p:spPr>
            <a:xfrm>
              <a:off x="9096375" y="1790700"/>
              <a:ext cx="2190750" cy="125730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28575">
              <a:solidFill>
                <a:schemeClr val="accent1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6" name="Line 6"/>
            <p:cNvSpPr/>
            <p:nvPr/>
          </p:nvSpPr>
          <p:spPr>
            <a:xfrm>
              <a:off x="9105900" y="2114550"/>
              <a:ext cx="2171700" cy="9525"/>
            </a:xfrm>
            <a:custGeom>
              <a:avLst/>
              <a:gdLst/>
              <a:ahLst/>
              <a:cxnLst/>
              <a:rect l="l" t="t" r="r" b="b"/>
              <a:pathLst>
                <a:path w="2171700" h="9525">
                  <a:moveTo>
                    <a:pt x="0" y="0"/>
                  </a:moveTo>
                  <a:lnTo>
                    <a:pt x="21717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7" name="Ellipse 7"/>
            <p:cNvSpPr/>
            <p:nvPr/>
          </p:nvSpPr>
          <p:spPr>
            <a:xfrm>
              <a:off x="9239250" y="1905000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8" name="Ellipse 8"/>
            <p:cNvSpPr/>
            <p:nvPr/>
          </p:nvSpPr>
          <p:spPr>
            <a:xfrm>
              <a:off x="9391650" y="1905000"/>
              <a:ext cx="76200" cy="762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Ellipse 9"/>
            <p:cNvSpPr/>
            <p:nvPr/>
          </p:nvSpPr>
          <p:spPr>
            <a:xfrm>
              <a:off x="9544050" y="1905000"/>
              <a:ext cx="76200" cy="762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78848" y="2403475"/>
              <a:ext cx="1025805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Browser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906000" y="3219450"/>
              <a:ext cx="1" cy="62865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2" name="Line 12"/>
            <p:cNvSpPr/>
            <p:nvPr/>
          </p:nvSpPr>
          <p:spPr>
            <a:xfrm flipV="1">
              <a:off x="10477500" y="3314700"/>
              <a:ext cx="1" cy="62865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096375" y="4171950"/>
              <a:ext cx="2190750" cy="704850"/>
            </a:xfrm>
            <a:prstGeom prst="roundRect">
              <a:avLst>
                <a:gd name="adj" fmla="val 16216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788471" y="4356100"/>
              <a:ext cx="8065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Server</a:t>
              </a:r>
            </a:p>
          </p:txBody>
        </p:sp>
      </p:grpSp>
      <p:grpSp>
        <p:nvGrpSpPr>
          <p:cNvPr id="17" name="subtitle"/>
          <p:cNvGrpSpPr/>
          <p:nvPr/>
        </p:nvGrpSpPr>
        <p:grpSpPr>
          <a:xfrm>
            <a:off x="597408" y="5337175"/>
            <a:ext cx="2169739" cy="469392"/>
            <a:chOff x="597408" y="5337175"/>
            <a:chExt cx="2169739" cy="469392"/>
          </a:xfrm>
        </p:grpSpPr>
        <p:sp>
          <p:nvSpPr>
            <p:cNvPr id="16" name="TextBox 16"/>
            <p:cNvSpPr txBox="1"/>
            <p:nvPr/>
          </p:nvSpPr>
          <p:spPr>
            <a:xfrm>
              <a:off x="597408" y="5337175"/>
              <a:ext cx="216973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Tavian Nguyen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2517746" cy="1123188"/>
            <a:chOff x="591312" y="546100"/>
            <a:chExt cx="2517746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251165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ROADMAP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18101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Agenda</a:t>
              </a:r>
            </a:p>
          </p:txBody>
        </p:sp>
      </p:grpSp>
      <p:grpSp>
        <p:nvGrpSpPr>
          <p:cNvPr id="8" name="part1"/>
          <p:cNvGrpSpPr/>
          <p:nvPr/>
        </p:nvGrpSpPr>
        <p:grpSpPr>
          <a:xfrm>
            <a:off x="597408" y="2146300"/>
            <a:ext cx="10737342" cy="587375"/>
            <a:chOff x="597408" y="2146300"/>
            <a:chExt cx="10737342" cy="587375"/>
          </a:xfrm>
        </p:grpSpPr>
        <p:sp>
          <p:nvSpPr>
            <p:cNvPr id="5" name="TextBox 5"/>
            <p:cNvSpPr txBox="1"/>
            <p:nvPr/>
          </p:nvSpPr>
          <p:spPr>
            <a:xfrm>
              <a:off x="597408" y="2146300"/>
              <a:ext cx="37273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483233" y="2146300"/>
              <a:ext cx="345119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Pain Points &amp; Approach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1504950" y="2724150"/>
              <a:ext cx="9829800" cy="9525"/>
            </a:xfrm>
            <a:custGeom>
              <a:avLst/>
              <a:gdLst/>
              <a:ahLst/>
              <a:cxnLst/>
              <a:rect l="l" t="t" r="r" b="b"/>
              <a:pathLst>
                <a:path w="9829800" h="9525">
                  <a:moveTo>
                    <a:pt x="0" y="0"/>
                  </a:moveTo>
                  <a:lnTo>
                    <a:pt x="9829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</p:grpSp>
      <p:grpSp>
        <p:nvGrpSpPr>
          <p:cNvPr id="12" name="part2"/>
          <p:cNvGrpSpPr/>
          <p:nvPr/>
        </p:nvGrpSpPr>
        <p:grpSpPr>
          <a:xfrm>
            <a:off x="597408" y="3136900"/>
            <a:ext cx="10737342" cy="587375"/>
            <a:chOff x="597408" y="3136900"/>
            <a:chExt cx="10737342" cy="587375"/>
          </a:xfrm>
        </p:grpSpPr>
        <p:sp>
          <p:nvSpPr>
            <p:cNvPr id="9" name="TextBox 9"/>
            <p:cNvSpPr txBox="1"/>
            <p:nvPr/>
          </p:nvSpPr>
          <p:spPr>
            <a:xfrm>
              <a:off x="597408" y="3136900"/>
              <a:ext cx="37273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83233" y="3136900"/>
              <a:ext cx="513260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Real-time Communication Methods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504950" y="3714750"/>
              <a:ext cx="9829800" cy="9525"/>
            </a:xfrm>
            <a:custGeom>
              <a:avLst/>
              <a:gdLst/>
              <a:ahLst/>
              <a:cxnLst/>
              <a:rect l="l" t="t" r="r" b="b"/>
              <a:pathLst>
                <a:path w="9829800" h="9525">
                  <a:moveTo>
                    <a:pt x="0" y="0"/>
                  </a:moveTo>
                  <a:lnTo>
                    <a:pt x="9829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</p:grpSp>
      <p:grpSp>
        <p:nvGrpSpPr>
          <p:cNvPr id="16" name="part3"/>
          <p:cNvGrpSpPr/>
          <p:nvPr/>
        </p:nvGrpSpPr>
        <p:grpSpPr>
          <a:xfrm>
            <a:off x="597408" y="4127500"/>
            <a:ext cx="10737342" cy="587375"/>
            <a:chOff x="597408" y="4127500"/>
            <a:chExt cx="10737342" cy="587375"/>
          </a:xfrm>
        </p:grpSpPr>
        <p:sp>
          <p:nvSpPr>
            <p:cNvPr id="13" name="TextBox 13"/>
            <p:cNvSpPr txBox="1"/>
            <p:nvPr/>
          </p:nvSpPr>
          <p:spPr>
            <a:xfrm>
              <a:off x="597408" y="4127500"/>
              <a:ext cx="37273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83233" y="4127500"/>
              <a:ext cx="428704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Lessons Learned &amp; Trade-offs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504950" y="4705350"/>
              <a:ext cx="9829800" cy="9525"/>
            </a:xfrm>
            <a:custGeom>
              <a:avLst/>
              <a:gdLst/>
              <a:ahLst/>
              <a:cxnLst/>
              <a:rect l="l" t="t" r="r" b="b"/>
              <a:pathLst>
                <a:path w="9829800" h="9525">
                  <a:moveTo>
                    <a:pt x="0" y="0"/>
                  </a:moveTo>
                  <a:lnTo>
                    <a:pt x="9829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</p:grpSp>
      <p:grpSp>
        <p:nvGrpSpPr>
          <p:cNvPr id="19" name="part4"/>
          <p:cNvGrpSpPr/>
          <p:nvPr/>
        </p:nvGrpSpPr>
        <p:grpSpPr>
          <a:xfrm>
            <a:off x="597408" y="5118100"/>
            <a:ext cx="2679586" cy="469392"/>
            <a:chOff x="597408" y="5118100"/>
            <a:chExt cx="2679586" cy="469392"/>
          </a:xfrm>
        </p:grpSpPr>
        <p:sp>
          <p:nvSpPr>
            <p:cNvPr id="17" name="TextBox 17"/>
            <p:cNvSpPr txBox="1"/>
            <p:nvPr/>
          </p:nvSpPr>
          <p:spPr>
            <a:xfrm>
              <a:off x="597408" y="5118100"/>
              <a:ext cx="37273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83233" y="5118100"/>
              <a:ext cx="1793761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en" sz="24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Demo </a:t>
              </a:r>
              <a:r>
                <a:rPr lang="en" sz="2400">
                  <a:solidFill>
                    <a:schemeClr val="accent1"/>
                  </a:solidFill>
                </a:rPr>
                <a:t>- </a:t>
              </a:r>
              <a:r>
                <a:rPr lang="en" sz="24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Q&amp;A</a:t>
              </a:r>
            </a:p>
          </p:txBody>
        </p:sp>
      </p:grpSp>
      <p:grpSp>
        <p:nvGrpSpPr>
          <p:cNvPr id="22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20" name="TextBox 20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6458617" cy="1123188"/>
            <a:chOff x="591312" y="546100"/>
            <a:chExt cx="6458617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52505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 / PAIN POINTS &amp; APPROACH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64586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Why Are Notifications Late?</a:t>
              </a:r>
            </a:p>
          </p:txBody>
        </p:sp>
      </p:grpSp>
      <p:grpSp>
        <p:nvGrpSpPr>
          <p:cNvPr id="29" name="notification-scene"/>
          <p:cNvGrpSpPr/>
          <p:nvPr/>
        </p:nvGrpSpPr>
        <p:grpSpPr>
          <a:xfrm>
            <a:off x="628650" y="2190750"/>
            <a:ext cx="10915650" cy="2569845"/>
            <a:chOff x="628650" y="2190750"/>
            <a:chExt cx="10915650" cy="2569845"/>
          </a:xfrm>
        </p:grpSpPr>
        <p:sp>
          <p:nvSpPr>
            <p:cNvPr id="5" name="Rectangle 5"/>
            <p:cNvSpPr/>
            <p:nvPr/>
          </p:nvSpPr>
          <p:spPr>
            <a:xfrm>
              <a:off x="628650" y="2190750"/>
              <a:ext cx="3009900" cy="211455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49630" y="2390775"/>
              <a:ext cx="7460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FORUM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28650" y="27622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8" name="Rectangle 8"/>
            <p:cNvSpPr/>
            <p:nvPr/>
          </p:nvSpPr>
          <p:spPr>
            <a:xfrm>
              <a:off x="857250" y="3000375"/>
              <a:ext cx="2514600" cy="990600"/>
            </a:xfrm>
            <a:prstGeom prst="roundRect">
              <a:avLst>
                <a:gd name="adj" fmla="val 11538"/>
              </a:avLst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Freeform 9"/>
            <p:cNvSpPr/>
            <p:nvPr/>
          </p:nvSpPr>
          <p:spPr>
            <a:xfrm>
              <a:off x="1080687" y="3311307"/>
              <a:ext cx="332775" cy="294987"/>
            </a:xfrm>
            <a:custGeom>
              <a:avLst/>
              <a:gdLst/>
              <a:ahLst/>
              <a:cxnLst/>
              <a:rect l="l" t="t" r="r" b="b"/>
              <a:pathLst>
                <a:path w="332775" h="294987">
                  <a:moveTo>
                    <a:pt x="17069" y="279618"/>
                  </a:moveTo>
                  <a:lnTo>
                    <a:pt x="38738" y="214610"/>
                  </a:lnTo>
                  <a:cubicBezTo>
                    <a:pt x="0" y="157320"/>
                    <a:pt x="14969" y="83394"/>
                    <a:pt x="73743" y="41689"/>
                  </a:cubicBezTo>
                  <a:cubicBezTo>
                    <a:pt x="132517" y="0"/>
                    <a:pt x="216927" y="3417"/>
                    <a:pt x="271184" y="49690"/>
                  </a:cubicBezTo>
                  <a:cubicBezTo>
                    <a:pt x="325441" y="95979"/>
                    <a:pt x="332775" y="170805"/>
                    <a:pt x="288336" y="224728"/>
                  </a:cubicBezTo>
                  <a:cubicBezTo>
                    <a:pt x="243897" y="278651"/>
                    <a:pt x="161404" y="294987"/>
                    <a:pt x="95412" y="262950"/>
                  </a:cubicBezTo>
                  <a:lnTo>
                    <a:pt x="17069" y="279618"/>
                  </a:lnTo>
                </a:path>
              </a:pathLst>
            </a:custGeom>
            <a:noFill/>
            <a:ln w="33338">
              <a:solidFill>
                <a:schemeClr val="accent2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89532" y="3289300"/>
              <a:ext cx="128891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New reply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3790950" y="3267075"/>
              <a:ext cx="11430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172075" y="2667000"/>
              <a:ext cx="1619250" cy="1181100"/>
            </a:xfrm>
            <a:prstGeom prst="roundRect">
              <a:avLst>
                <a:gd name="adj" fmla="val 9677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5791200" y="2895600"/>
              <a:ext cx="342900" cy="304800"/>
              <a:chOff x="5791200" y="2895600"/>
              <a:chExt cx="342900" cy="304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791200" y="2895600"/>
                <a:ext cx="3429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152400">
                    <a:moveTo>
                      <a:pt x="0" y="57150"/>
                    </a:moveTo>
                    <a:cubicBezTo>
                      <a:pt x="0" y="25587"/>
                      <a:pt x="25587" y="0"/>
                      <a:pt x="57150" y="0"/>
                    </a:cubicBezTo>
                    <a:lnTo>
                      <a:pt x="285750" y="0"/>
                    </a:lnTo>
                    <a:cubicBezTo>
                      <a:pt x="317313" y="0"/>
                      <a:pt x="342900" y="25587"/>
                      <a:pt x="342900" y="57150"/>
                    </a:cubicBezTo>
                    <a:lnTo>
                      <a:pt x="342900" y="95250"/>
                    </a:lnTo>
                    <a:cubicBezTo>
                      <a:pt x="342900" y="126813"/>
                      <a:pt x="317313" y="152400"/>
                      <a:pt x="285750" y="152400"/>
                    </a:cubicBezTo>
                    <a:lnTo>
                      <a:pt x="57150" y="152400"/>
                    </a:lnTo>
                    <a:cubicBezTo>
                      <a:pt x="25587" y="152400"/>
                      <a:pt x="0" y="126813"/>
                      <a:pt x="0" y="95250"/>
                    </a:cubicBezTo>
                    <a:lnTo>
                      <a:pt x="0" y="5715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5791200" y="3048000"/>
                <a:ext cx="3429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152400">
                    <a:moveTo>
                      <a:pt x="0" y="57150"/>
                    </a:moveTo>
                    <a:cubicBezTo>
                      <a:pt x="0" y="25587"/>
                      <a:pt x="25587" y="0"/>
                      <a:pt x="57150" y="0"/>
                    </a:cubicBezTo>
                    <a:lnTo>
                      <a:pt x="285750" y="0"/>
                    </a:lnTo>
                    <a:cubicBezTo>
                      <a:pt x="317313" y="0"/>
                      <a:pt x="342900" y="25587"/>
                      <a:pt x="342900" y="57150"/>
                    </a:cubicBezTo>
                    <a:lnTo>
                      <a:pt x="342900" y="95250"/>
                    </a:lnTo>
                    <a:cubicBezTo>
                      <a:pt x="342900" y="126813"/>
                      <a:pt x="317313" y="152400"/>
                      <a:pt x="285750" y="152400"/>
                    </a:cubicBezTo>
                    <a:lnTo>
                      <a:pt x="57150" y="152400"/>
                    </a:lnTo>
                    <a:cubicBezTo>
                      <a:pt x="25587" y="152400"/>
                      <a:pt x="0" y="126813"/>
                      <a:pt x="0" y="95250"/>
                    </a:cubicBezTo>
                    <a:lnTo>
                      <a:pt x="0" y="5715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867400" y="29718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9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5867400" y="3124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9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5693644" y="3457575"/>
              <a:ext cx="5761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Server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000875" y="3267075"/>
              <a:ext cx="1171575" cy="9525"/>
            </a:xfrm>
            <a:custGeom>
              <a:avLst/>
              <a:gdLst/>
              <a:ahLst/>
              <a:cxnLst/>
              <a:rect l="l" t="t" r="r" b="b"/>
              <a:pathLst>
                <a:path w="1171575" h="9525">
                  <a:moveTo>
                    <a:pt x="0" y="0"/>
                  </a:moveTo>
                  <a:lnTo>
                    <a:pt x="1171575" y="0"/>
                  </a:lnTo>
                </a:path>
              </a:pathLst>
            </a:custGeom>
            <a:noFill/>
            <a:ln w="28575">
              <a:solidFill>
                <a:schemeClr val="accent6"/>
              </a:solidFill>
              <a:custDash>
                <a:ds d="266667" sp="266667"/>
              </a:custDash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1490" y="2828925"/>
              <a:ext cx="860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Waiting…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382000" y="2190750"/>
              <a:ext cx="3162300" cy="211455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602980" y="2390775"/>
              <a:ext cx="9952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RECIPIENT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8382000" y="2762250"/>
              <a:ext cx="3162300" cy="9525"/>
            </a:xfrm>
            <a:custGeom>
              <a:avLst/>
              <a:gdLst/>
              <a:ahLst/>
              <a:cxnLst/>
              <a:rect l="l" t="t" r="r" b="b"/>
              <a:pathLst>
                <a:path w="3162300" h="9525">
                  <a:moveTo>
                    <a:pt x="0" y="0"/>
                  </a:moveTo>
                  <a:lnTo>
                    <a:pt x="31623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9820275" y="3105150"/>
              <a:ext cx="304800" cy="342900"/>
              <a:chOff x="9820275" y="3105150"/>
              <a:chExt cx="304800" cy="3429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9820275" y="3105150"/>
                <a:ext cx="3048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266700">
                    <a:moveTo>
                      <a:pt x="114300" y="38100"/>
                    </a:moveTo>
                    <a:cubicBezTo>
                      <a:pt x="114300" y="17058"/>
                      <a:pt x="131358" y="0"/>
                      <a:pt x="152400" y="0"/>
                    </a:cubicBezTo>
                    <a:cubicBezTo>
                      <a:pt x="173442" y="0"/>
                      <a:pt x="190500" y="17058"/>
                      <a:pt x="190500" y="38100"/>
                    </a:cubicBezTo>
                    <a:cubicBezTo>
                      <a:pt x="235080" y="59180"/>
                      <a:pt x="264388" y="103141"/>
                      <a:pt x="266700" y="152400"/>
                    </a:cubicBezTo>
                    <a:lnTo>
                      <a:pt x="266700" y="209550"/>
                    </a:lnTo>
                    <a:cubicBezTo>
                      <a:pt x="269607" y="233568"/>
                      <a:pt x="283748" y="254779"/>
                      <a:pt x="304800" y="266700"/>
                    </a:cubicBezTo>
                    <a:lnTo>
                      <a:pt x="0" y="266700"/>
                    </a:lnTo>
                    <a:cubicBezTo>
                      <a:pt x="21052" y="254779"/>
                      <a:pt x="35193" y="233568"/>
                      <a:pt x="38100" y="209550"/>
                    </a:cubicBezTo>
                    <a:lnTo>
                      <a:pt x="38100" y="152400"/>
                    </a:lnTo>
                    <a:cubicBezTo>
                      <a:pt x="40412" y="103141"/>
                      <a:pt x="69720" y="59180"/>
                      <a:pt x="114300" y="38100"/>
                    </a:cubicBezTo>
                  </a:path>
                </a:pathLst>
              </a:custGeom>
              <a:noFill/>
              <a:ln w="38100">
                <a:solidFill>
                  <a:srgbClr val="526B80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9915525" y="33718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0"/>
                    </a:moveTo>
                    <a:lnTo>
                      <a:pt x="0" y="19050"/>
                    </a:lnTo>
                    <a:cubicBezTo>
                      <a:pt x="0" y="50613"/>
                      <a:pt x="25587" y="76200"/>
                      <a:pt x="57150" y="76200"/>
                    </a:cubicBezTo>
                    <a:cubicBezTo>
                      <a:pt x="88713" y="76200"/>
                      <a:pt x="114300" y="50613"/>
                      <a:pt x="114300" y="19050"/>
                    </a:cubicBezTo>
                    <a:lnTo>
                      <a:pt x="114300" y="0"/>
                    </a:lnTo>
                  </a:path>
                </a:pathLst>
              </a:custGeom>
              <a:noFill/>
              <a:ln w="38100">
                <a:solidFill>
                  <a:srgbClr val="526B80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9032917" y="3733800"/>
              <a:ext cx="18604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new notifications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71951" y="4467225"/>
              <a:ext cx="1782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Until the next check</a:t>
              </a:r>
            </a:p>
          </p:txBody>
        </p:sp>
      </p:grpSp>
      <p:grpSp>
        <p:nvGrpSpPr>
          <p:cNvPr id="36" name="approach"/>
          <p:cNvGrpSpPr/>
          <p:nvPr/>
        </p:nvGrpSpPr>
        <p:grpSpPr>
          <a:xfrm>
            <a:off x="609600" y="5191125"/>
            <a:ext cx="10972800" cy="762000"/>
            <a:chOff x="609600" y="5191125"/>
            <a:chExt cx="10972800" cy="762000"/>
          </a:xfrm>
        </p:grpSpPr>
        <p:sp>
          <p:nvSpPr>
            <p:cNvPr id="30" name="Rectangle 30"/>
            <p:cNvSpPr/>
            <p:nvPr/>
          </p:nvSpPr>
          <p:spPr>
            <a:xfrm>
              <a:off x="609600" y="5191125"/>
              <a:ext cx="10972800" cy="762000"/>
            </a:xfrm>
            <a:prstGeom prst="roundRect">
              <a:avLst>
                <a:gd name="adj" fmla="val 15000"/>
              </a:avLst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64108" y="5375275"/>
              <a:ext cx="58874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SSE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122932" y="5403850"/>
              <a:ext cx="390700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Push updates to an open page.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10896600" y="5453062"/>
              <a:ext cx="228600" cy="257176"/>
              <a:chOff x="10896600" y="5453062"/>
              <a:chExt cx="228600" cy="25717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0896600" y="5453062"/>
                <a:ext cx="22860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00025">
                    <a:moveTo>
                      <a:pt x="85725" y="28575"/>
                    </a:moveTo>
                    <a:cubicBezTo>
                      <a:pt x="85725" y="12793"/>
                      <a:pt x="98518" y="0"/>
                      <a:pt x="114300" y="0"/>
                    </a:cubicBezTo>
                    <a:cubicBezTo>
                      <a:pt x="130082" y="0"/>
                      <a:pt x="142875" y="12793"/>
                      <a:pt x="142875" y="28575"/>
                    </a:cubicBezTo>
                    <a:cubicBezTo>
                      <a:pt x="176310" y="44385"/>
                      <a:pt x="198291" y="77356"/>
                      <a:pt x="200025" y="114300"/>
                    </a:cubicBezTo>
                    <a:lnTo>
                      <a:pt x="200025" y="157162"/>
                    </a:lnTo>
                    <a:cubicBezTo>
                      <a:pt x="202205" y="175176"/>
                      <a:pt x="212811" y="191084"/>
                      <a:pt x="228600" y="200025"/>
                    </a:cubicBezTo>
                    <a:lnTo>
                      <a:pt x="0" y="200025"/>
                    </a:lnTo>
                    <a:cubicBezTo>
                      <a:pt x="15789" y="191084"/>
                      <a:pt x="26395" y="175176"/>
                      <a:pt x="28575" y="157162"/>
                    </a:cubicBezTo>
                    <a:lnTo>
                      <a:pt x="28575" y="114300"/>
                    </a:lnTo>
                    <a:cubicBezTo>
                      <a:pt x="30309" y="77356"/>
                      <a:pt x="52290" y="44385"/>
                      <a:pt x="85725" y="28575"/>
                    </a:cubicBez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10968038" y="5653088"/>
                <a:ext cx="857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57150">
                    <a:moveTo>
                      <a:pt x="0" y="0"/>
                    </a:moveTo>
                    <a:lnTo>
                      <a:pt x="0" y="14288"/>
                    </a:lnTo>
                    <a:cubicBezTo>
                      <a:pt x="0" y="37960"/>
                      <a:pt x="19190" y="57150"/>
                      <a:pt x="42862" y="57150"/>
                    </a:cubicBezTo>
                    <a:cubicBezTo>
                      <a:pt x="66535" y="57150"/>
                      <a:pt x="85725" y="37960"/>
                      <a:pt x="85725" y="14288"/>
                    </a:cubicBez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</p:grpSp>
      </p:grpSp>
      <p:grpSp>
        <p:nvGrpSpPr>
          <p:cNvPr id="39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37" name="TextBox 37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6090769" cy="1123188"/>
            <a:chOff x="591312" y="546100"/>
            <a:chExt cx="6090769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52505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 / PAIN POINTS &amp; APPROACH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60907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Why Does Chat Feel Slow?</a:t>
              </a:r>
            </a:p>
          </p:txBody>
        </p:sp>
      </p:grpSp>
      <p:grpSp>
        <p:nvGrpSpPr>
          <p:cNvPr id="27" name="chat-scene"/>
          <p:cNvGrpSpPr/>
          <p:nvPr/>
        </p:nvGrpSpPr>
        <p:grpSpPr>
          <a:xfrm>
            <a:off x="628650" y="2190750"/>
            <a:ext cx="10915650" cy="2419350"/>
            <a:chOff x="628650" y="2190750"/>
            <a:chExt cx="10915650" cy="2419350"/>
          </a:xfrm>
        </p:grpSpPr>
        <p:sp>
          <p:nvSpPr>
            <p:cNvPr id="5" name="Rectangle 5"/>
            <p:cNvSpPr/>
            <p:nvPr/>
          </p:nvSpPr>
          <p:spPr>
            <a:xfrm>
              <a:off x="628650" y="2190750"/>
              <a:ext cx="3009900" cy="2419350"/>
            </a:xfrm>
            <a:prstGeom prst="roundRect">
              <a:avLst>
                <a:gd name="adj" fmla="val 4724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49630" y="2381250"/>
              <a:ext cx="10602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MEMBER A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28650" y="2752725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8" name="Rectangle 8"/>
            <p:cNvSpPr/>
            <p:nvPr/>
          </p:nvSpPr>
          <p:spPr>
            <a:xfrm>
              <a:off x="1181100" y="3009900"/>
              <a:ext cx="2190750" cy="590550"/>
            </a:xfrm>
            <a:prstGeom prst="roundRect">
              <a:avLst>
                <a:gd name="adj" fmla="val 19355"/>
              </a:avLst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02080" y="3190875"/>
              <a:ext cx="17420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Hey, are you there?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944001" y="3724275"/>
              <a:ext cx="4164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Sent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3790950" y="3257550"/>
              <a:ext cx="11430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172075" y="2667000"/>
              <a:ext cx="1619250" cy="1181100"/>
            </a:xfrm>
            <a:prstGeom prst="roundRect">
              <a:avLst>
                <a:gd name="adj" fmla="val 9677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5791200" y="2895600"/>
              <a:ext cx="342900" cy="304800"/>
              <a:chOff x="5791200" y="2895600"/>
              <a:chExt cx="342900" cy="304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791200" y="2895600"/>
                <a:ext cx="3429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152400">
                    <a:moveTo>
                      <a:pt x="0" y="57150"/>
                    </a:moveTo>
                    <a:cubicBezTo>
                      <a:pt x="0" y="25587"/>
                      <a:pt x="25587" y="0"/>
                      <a:pt x="57150" y="0"/>
                    </a:cubicBezTo>
                    <a:lnTo>
                      <a:pt x="285750" y="0"/>
                    </a:lnTo>
                    <a:cubicBezTo>
                      <a:pt x="317313" y="0"/>
                      <a:pt x="342900" y="25587"/>
                      <a:pt x="342900" y="57150"/>
                    </a:cubicBezTo>
                    <a:lnTo>
                      <a:pt x="342900" y="95250"/>
                    </a:lnTo>
                    <a:cubicBezTo>
                      <a:pt x="342900" y="126813"/>
                      <a:pt x="317313" y="152400"/>
                      <a:pt x="285750" y="152400"/>
                    </a:cubicBezTo>
                    <a:lnTo>
                      <a:pt x="57150" y="152400"/>
                    </a:lnTo>
                    <a:cubicBezTo>
                      <a:pt x="25587" y="152400"/>
                      <a:pt x="0" y="126813"/>
                      <a:pt x="0" y="95250"/>
                    </a:cubicBezTo>
                    <a:lnTo>
                      <a:pt x="0" y="5715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5791200" y="3048000"/>
                <a:ext cx="3429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152400">
                    <a:moveTo>
                      <a:pt x="0" y="57150"/>
                    </a:moveTo>
                    <a:cubicBezTo>
                      <a:pt x="0" y="25587"/>
                      <a:pt x="25587" y="0"/>
                      <a:pt x="57150" y="0"/>
                    </a:cubicBezTo>
                    <a:lnTo>
                      <a:pt x="285750" y="0"/>
                    </a:lnTo>
                    <a:cubicBezTo>
                      <a:pt x="317313" y="0"/>
                      <a:pt x="342900" y="25587"/>
                      <a:pt x="342900" y="57150"/>
                    </a:cubicBezTo>
                    <a:lnTo>
                      <a:pt x="342900" y="95250"/>
                    </a:lnTo>
                    <a:cubicBezTo>
                      <a:pt x="342900" y="126813"/>
                      <a:pt x="317313" y="152400"/>
                      <a:pt x="285750" y="152400"/>
                    </a:cubicBezTo>
                    <a:lnTo>
                      <a:pt x="57150" y="152400"/>
                    </a:lnTo>
                    <a:cubicBezTo>
                      <a:pt x="25587" y="152400"/>
                      <a:pt x="0" y="126813"/>
                      <a:pt x="0" y="95250"/>
                    </a:cubicBezTo>
                    <a:lnTo>
                      <a:pt x="0" y="5715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867400" y="29718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9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5867400" y="3124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9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5693644" y="3457575"/>
              <a:ext cx="5761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Server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000875" y="3257550"/>
              <a:ext cx="1171575" cy="9525"/>
            </a:xfrm>
            <a:custGeom>
              <a:avLst/>
              <a:gdLst/>
              <a:ahLst/>
              <a:cxnLst/>
              <a:rect l="l" t="t" r="r" b="b"/>
              <a:pathLst>
                <a:path w="1171575" h="9525">
                  <a:moveTo>
                    <a:pt x="0" y="0"/>
                  </a:moveTo>
                  <a:lnTo>
                    <a:pt x="1171575" y="0"/>
                  </a:lnTo>
                </a:path>
              </a:pathLst>
            </a:custGeom>
            <a:noFill/>
            <a:ln w="28575">
              <a:solidFill>
                <a:schemeClr val="accent6"/>
              </a:solidFill>
              <a:custDash>
                <a:ds d="266667" sp="266667"/>
              </a:custDash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382000" y="2190750"/>
              <a:ext cx="3162300" cy="2419350"/>
            </a:xfrm>
            <a:prstGeom prst="roundRect">
              <a:avLst>
                <a:gd name="adj" fmla="val 4724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02980" y="2381250"/>
              <a:ext cx="10450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MEMBER B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8382000" y="2752725"/>
              <a:ext cx="3162300" cy="9525"/>
            </a:xfrm>
            <a:custGeom>
              <a:avLst/>
              <a:gdLst/>
              <a:ahLst/>
              <a:cxnLst/>
              <a:rect l="l" t="t" r="r" b="b"/>
              <a:pathLst>
                <a:path w="3162300" h="9525">
                  <a:moveTo>
                    <a:pt x="0" y="0"/>
                  </a:moveTo>
                  <a:lnTo>
                    <a:pt x="31623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3" name="Ellipse 23"/>
            <p:cNvSpPr/>
            <p:nvPr/>
          </p:nvSpPr>
          <p:spPr>
            <a:xfrm>
              <a:off x="9648825" y="3276600"/>
              <a:ext cx="95250" cy="952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4" name="Ellipse 24"/>
            <p:cNvSpPr/>
            <p:nvPr/>
          </p:nvSpPr>
          <p:spPr>
            <a:xfrm>
              <a:off x="9915525" y="3276600"/>
              <a:ext cx="95250" cy="952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5" name="Ellipse 25"/>
            <p:cNvSpPr/>
            <p:nvPr/>
          </p:nvSpPr>
          <p:spPr>
            <a:xfrm>
              <a:off x="10182225" y="3276600"/>
              <a:ext cx="95250" cy="952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31003" y="3651250"/>
              <a:ext cx="146429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Still waiting</a:t>
              </a:r>
            </a:p>
          </p:txBody>
        </p:sp>
      </p:grpSp>
      <p:grpSp>
        <p:nvGrpSpPr>
          <p:cNvPr id="32" name="approach"/>
          <p:cNvGrpSpPr/>
          <p:nvPr/>
        </p:nvGrpSpPr>
        <p:grpSpPr>
          <a:xfrm>
            <a:off x="609600" y="5191125"/>
            <a:ext cx="10972800" cy="762000"/>
            <a:chOff x="609600" y="5191125"/>
            <a:chExt cx="10972800" cy="762000"/>
          </a:xfrm>
        </p:grpSpPr>
        <p:sp>
          <p:nvSpPr>
            <p:cNvPr id="28" name="Rectangle 28"/>
            <p:cNvSpPr/>
            <p:nvPr/>
          </p:nvSpPr>
          <p:spPr>
            <a:xfrm>
              <a:off x="609600" y="5191125"/>
              <a:ext cx="10972800" cy="762000"/>
            </a:xfrm>
            <a:prstGeom prst="roundRect">
              <a:avLst>
                <a:gd name="adj" fmla="val 15000"/>
              </a:avLst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64108" y="5375275"/>
              <a:ext cx="17606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WebSocket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70682" y="5403850"/>
              <a:ext cx="358432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Keep the conversation open.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10867682" y="5456277"/>
              <a:ext cx="285236" cy="252846"/>
            </a:xfrm>
            <a:custGeom>
              <a:avLst/>
              <a:gdLst/>
              <a:ahLst/>
              <a:cxnLst/>
              <a:rect l="l" t="t" r="r" b="b"/>
              <a:pathLst>
                <a:path w="285236" h="252846">
                  <a:moveTo>
                    <a:pt x="14630" y="239673"/>
                  </a:moveTo>
                  <a:lnTo>
                    <a:pt x="33204" y="183952"/>
                  </a:lnTo>
                  <a:cubicBezTo>
                    <a:pt x="0" y="134845"/>
                    <a:pt x="12830" y="71480"/>
                    <a:pt x="63208" y="35733"/>
                  </a:cubicBezTo>
                  <a:cubicBezTo>
                    <a:pt x="113586" y="0"/>
                    <a:pt x="185938" y="2929"/>
                    <a:pt x="232443" y="42591"/>
                  </a:cubicBezTo>
                  <a:cubicBezTo>
                    <a:pt x="278949" y="82267"/>
                    <a:pt x="285236" y="146404"/>
                    <a:pt x="247145" y="192624"/>
                  </a:cubicBezTo>
                  <a:cubicBezTo>
                    <a:pt x="209055" y="238844"/>
                    <a:pt x="138346" y="252846"/>
                    <a:pt x="81782" y="225385"/>
                  </a:cubicBezTo>
                  <a:lnTo>
                    <a:pt x="14630" y="239673"/>
                  </a:lnTo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txBody>
            <a:bodyPr/>
            <a:lstStyle/>
            <a:p>
              <a:endParaRPr lang="en-150"/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33" name="TextBox 33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469900"/>
            <a:ext cx="7436564" cy="1707388"/>
            <a:chOff x="591312" y="469900"/>
            <a:chExt cx="7436564" cy="17073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469900"/>
              <a:ext cx="74304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 / REAL-TIME COMMUNICATION METHODS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01700"/>
              <a:ext cx="5370866" cy="1275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500"/>
                </a:lnSpc>
              </a:pPr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From Repeated Requests</a:t>
              </a:r>
              <a:b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to Live Connections</a:t>
              </a:r>
            </a:p>
          </p:txBody>
        </p:sp>
      </p:grpSp>
      <p:grpSp>
        <p:nvGrpSpPr>
          <p:cNvPr id="24" name="method-map"/>
          <p:cNvGrpSpPr/>
          <p:nvPr/>
        </p:nvGrpSpPr>
        <p:grpSpPr>
          <a:xfrm>
            <a:off x="711708" y="2857500"/>
            <a:ext cx="10413492" cy="1964309"/>
            <a:chOff x="711708" y="2857500"/>
            <a:chExt cx="10413492" cy="1964309"/>
          </a:xfrm>
        </p:grpSpPr>
        <p:sp>
          <p:nvSpPr>
            <p:cNvPr id="5" name="Line 5"/>
            <p:cNvSpPr/>
            <p:nvPr/>
          </p:nvSpPr>
          <p:spPr>
            <a:xfrm>
              <a:off x="1095375" y="3086100"/>
              <a:ext cx="10029825" cy="9525"/>
            </a:xfrm>
            <a:custGeom>
              <a:avLst/>
              <a:gdLst/>
              <a:ahLst/>
              <a:cxnLst/>
              <a:rect l="l" t="t" r="r" b="b"/>
              <a:pathLst>
                <a:path w="10029825" h="9525">
                  <a:moveTo>
                    <a:pt x="0" y="0"/>
                  </a:moveTo>
                  <a:lnTo>
                    <a:pt x="10029825" y="0"/>
                  </a:ln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6" name="Ellipse 6"/>
            <p:cNvSpPr/>
            <p:nvPr/>
          </p:nvSpPr>
          <p:spPr>
            <a:xfrm>
              <a:off x="1104900" y="285750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chemeClr val="accent2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271450" y="2962275"/>
              <a:ext cx="124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3933825" y="285750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chemeClr val="accent2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00375" y="2962275"/>
              <a:ext cx="124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6762750" y="2857500"/>
              <a:ext cx="45720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929300" y="2962275"/>
              <a:ext cx="124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9591675" y="2857500"/>
              <a:ext cx="45720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758225" y="2962275"/>
              <a:ext cx="124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1708" y="3556000"/>
              <a:ext cx="109994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Polling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6280" y="4114800"/>
              <a:ext cx="8805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Ask again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331083" y="3556000"/>
              <a:ext cx="19583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Long Polling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335655" y="4114800"/>
              <a:ext cx="12761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Wait, then ask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64808" y="3556000"/>
              <a:ext cx="58874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SSE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9380" y="4114800"/>
              <a:ext cx="15177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Receive a stream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84183" y="3556000"/>
              <a:ext cx="17606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WebSocket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88755" y="4114800"/>
              <a:ext cx="13417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Talk both ways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566" y="4616450"/>
              <a:ext cx="14230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REPEATED REQUESTS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71666" y="4616450"/>
              <a:ext cx="16349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LONG-LIVED CHANNELS</a:t>
              </a:r>
            </a:p>
          </p:txBody>
        </p:sp>
      </p:grpSp>
      <p:grpSp>
        <p:nvGrpSpPr>
          <p:cNvPr id="26" name="takeaway"/>
          <p:cNvGrpSpPr/>
          <p:nvPr/>
        </p:nvGrpSpPr>
        <p:grpSpPr>
          <a:xfrm>
            <a:off x="597408" y="5403850"/>
            <a:ext cx="6075337" cy="469392"/>
            <a:chOff x="597408" y="5403850"/>
            <a:chExt cx="6075337" cy="469392"/>
          </a:xfrm>
        </p:grpSpPr>
        <p:sp>
          <p:nvSpPr>
            <p:cNvPr id="25" name="TextBox 25"/>
            <p:cNvSpPr txBox="1"/>
            <p:nvPr/>
          </p:nvSpPr>
          <p:spPr>
            <a:xfrm>
              <a:off x="597408" y="5403850"/>
              <a:ext cx="607533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Different trade-offs. </a:t>
              </a:r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No universal winner.</a:t>
              </a:r>
            </a:p>
          </p:txBody>
        </p:sp>
      </p:grpSp>
      <p:grpSp>
        <p:nvGrpSpPr>
          <p:cNvPr id="29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27" name="TextBox 27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3733112" cy="1123188"/>
            <a:chOff x="591312" y="546100"/>
            <a:chExt cx="3733112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37270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 / METHODS · 1 OF 4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16499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Polling</a:t>
              </a:r>
            </a:p>
          </p:txBody>
        </p:sp>
      </p:grpSp>
      <p:grpSp>
        <p:nvGrpSpPr>
          <p:cNvPr id="20" name="sequence"/>
          <p:cNvGrpSpPr/>
          <p:nvPr/>
        </p:nvGrpSpPr>
        <p:grpSpPr>
          <a:xfrm>
            <a:off x="718566" y="2108200"/>
            <a:ext cx="5799762" cy="3628009"/>
            <a:chOff x="718566" y="2108200"/>
            <a:chExt cx="5799762" cy="3628009"/>
          </a:xfrm>
        </p:grpSpPr>
        <p:sp>
          <p:nvSpPr>
            <p:cNvPr id="5" name="TextBox 5"/>
            <p:cNvSpPr txBox="1"/>
            <p:nvPr/>
          </p:nvSpPr>
          <p:spPr>
            <a:xfrm>
              <a:off x="1220648" y="2108200"/>
              <a:ext cx="102580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Browser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11771" y="2108200"/>
              <a:ext cx="8065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Server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1733550" y="2552700"/>
              <a:ext cx="9525" cy="3105150"/>
            </a:xfrm>
            <a:custGeom>
              <a:avLst/>
              <a:gdLst/>
              <a:ahLst/>
              <a:cxnLst/>
              <a:rect l="l" t="t" r="r" b="b"/>
              <a:pathLst>
                <a:path w="9525" h="3105150">
                  <a:moveTo>
                    <a:pt x="0" y="0"/>
                  </a:moveTo>
                  <a:lnTo>
                    <a:pt x="0" y="31051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8" name="Line 8"/>
            <p:cNvSpPr/>
            <p:nvPr/>
          </p:nvSpPr>
          <p:spPr>
            <a:xfrm>
              <a:off x="6115050" y="2552700"/>
              <a:ext cx="9525" cy="3105150"/>
            </a:xfrm>
            <a:custGeom>
              <a:avLst/>
              <a:gdLst/>
              <a:ahLst/>
              <a:cxnLst/>
              <a:rect l="l" t="t" r="r" b="b"/>
              <a:pathLst>
                <a:path w="9525" h="3105150">
                  <a:moveTo>
                    <a:pt x="0" y="0"/>
                  </a:moveTo>
                  <a:lnTo>
                    <a:pt x="0" y="31051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Line 9"/>
            <p:cNvSpPr/>
            <p:nvPr/>
          </p:nvSpPr>
          <p:spPr>
            <a:xfrm>
              <a:off x="1752600" y="2933700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253955" y="2628900"/>
              <a:ext cx="13406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Anything new?</a:t>
              </a:r>
            </a:p>
          </p:txBody>
        </p:sp>
        <p:sp>
          <p:nvSpPr>
            <p:cNvPr id="11" name="Line 11"/>
            <p:cNvSpPr/>
            <p:nvPr/>
          </p:nvSpPr>
          <p:spPr>
            <a:xfrm flipH="1">
              <a:off x="1790700" y="3409950"/>
              <a:ext cx="43053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383636" y="3114675"/>
              <a:ext cx="10813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changes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21205" y="3657600"/>
              <a:ext cx="17912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Wait for the interval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1752600" y="4257675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253955" y="3952875"/>
              <a:ext cx="13406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Anything new?</a:t>
              </a:r>
            </a:p>
          </p:txBody>
        </p:sp>
        <p:sp>
          <p:nvSpPr>
            <p:cNvPr id="16" name="Line 16"/>
            <p:cNvSpPr/>
            <p:nvPr/>
          </p:nvSpPr>
          <p:spPr>
            <a:xfrm flipH="1">
              <a:off x="1790700" y="4762500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487875" y="4457700"/>
              <a:ext cx="8728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New data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21205" y="5210175"/>
              <a:ext cx="6429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Repeat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566" y="5530850"/>
              <a:ext cx="4613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TIME ↓</a:t>
              </a:r>
            </a:p>
          </p:txBody>
        </p:sp>
      </p:grpSp>
      <p:grpSp>
        <p:nvGrpSpPr>
          <p:cNvPr id="27" name="explanation"/>
          <p:cNvGrpSpPr/>
          <p:nvPr/>
        </p:nvGrpSpPr>
        <p:grpSpPr>
          <a:xfrm>
            <a:off x="7810500" y="2114550"/>
            <a:ext cx="2665832" cy="3524250"/>
            <a:chOff x="7810500" y="2114550"/>
            <a:chExt cx="2665832" cy="3524250"/>
          </a:xfrm>
        </p:grpSpPr>
        <p:sp>
          <p:nvSpPr>
            <p:cNvPr id="21" name="Rectangle 21"/>
            <p:cNvSpPr/>
            <p:nvPr/>
          </p:nvSpPr>
          <p:spPr>
            <a:xfrm>
              <a:off x="7810500" y="2114550"/>
              <a:ext cx="38100" cy="352425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03108" y="2219325"/>
              <a:ext cx="2025274" cy="869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Ask at regular</a:t>
              </a:r>
              <a:b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intervals.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04632" y="3451225"/>
              <a:ext cx="16433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Simple HTTP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04632" y="4022725"/>
              <a:ext cx="213828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Empty responses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07680" y="4886325"/>
              <a:ext cx="19085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SHORTER INTERVAL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07680" y="5238750"/>
              <a:ext cx="23686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Less delay · More requests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28" name="TextBox 28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3733112" cy="1123188"/>
            <a:chOff x="591312" y="546100"/>
            <a:chExt cx="3733112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37270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 / METHODS · 2 OF 4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293747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Long Polling</a:t>
              </a:r>
            </a:p>
          </p:txBody>
        </p:sp>
      </p:grpSp>
      <p:grpSp>
        <p:nvGrpSpPr>
          <p:cNvPr id="19" name="sequence"/>
          <p:cNvGrpSpPr/>
          <p:nvPr/>
        </p:nvGrpSpPr>
        <p:grpSpPr>
          <a:xfrm>
            <a:off x="718566" y="2108200"/>
            <a:ext cx="5799762" cy="3628009"/>
            <a:chOff x="718566" y="2108200"/>
            <a:chExt cx="5799762" cy="3628009"/>
          </a:xfrm>
        </p:grpSpPr>
        <p:sp>
          <p:nvSpPr>
            <p:cNvPr id="5" name="TextBox 5"/>
            <p:cNvSpPr txBox="1"/>
            <p:nvPr/>
          </p:nvSpPr>
          <p:spPr>
            <a:xfrm>
              <a:off x="1220648" y="2108200"/>
              <a:ext cx="102580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Browser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11771" y="2108200"/>
              <a:ext cx="8065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Server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1733550" y="2552700"/>
              <a:ext cx="9525" cy="3105150"/>
            </a:xfrm>
            <a:custGeom>
              <a:avLst/>
              <a:gdLst/>
              <a:ahLst/>
              <a:cxnLst/>
              <a:rect l="l" t="t" r="r" b="b"/>
              <a:pathLst>
                <a:path w="9525" h="3105150">
                  <a:moveTo>
                    <a:pt x="0" y="0"/>
                  </a:moveTo>
                  <a:lnTo>
                    <a:pt x="0" y="31051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8" name="Line 8"/>
            <p:cNvSpPr/>
            <p:nvPr/>
          </p:nvSpPr>
          <p:spPr>
            <a:xfrm>
              <a:off x="6115050" y="2552700"/>
              <a:ext cx="9525" cy="3105150"/>
            </a:xfrm>
            <a:custGeom>
              <a:avLst/>
              <a:gdLst/>
              <a:ahLst/>
              <a:cxnLst/>
              <a:rect l="l" t="t" r="r" b="b"/>
              <a:pathLst>
                <a:path w="9525" h="3105150">
                  <a:moveTo>
                    <a:pt x="0" y="0"/>
                  </a:moveTo>
                  <a:lnTo>
                    <a:pt x="0" y="31051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Line 9"/>
            <p:cNvSpPr/>
            <p:nvPr/>
          </p:nvSpPr>
          <p:spPr>
            <a:xfrm>
              <a:off x="1752600" y="2933700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253955" y="2628900"/>
              <a:ext cx="13406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Anything new?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962650" y="3133725"/>
              <a:ext cx="304800" cy="1228725"/>
            </a:xfrm>
            <a:prstGeom prst="roundRect">
              <a:avLst>
                <a:gd name="adj" fmla="val 25000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147007" y="3438525"/>
              <a:ext cx="1518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Hold the request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0003" y="3762375"/>
              <a:ext cx="15054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Event or timeout</a:t>
              </a:r>
            </a:p>
          </p:txBody>
        </p:sp>
        <p:sp>
          <p:nvSpPr>
            <p:cNvPr id="14" name="Line 14"/>
            <p:cNvSpPr/>
            <p:nvPr/>
          </p:nvSpPr>
          <p:spPr>
            <a:xfrm flipH="1">
              <a:off x="1790700" y="4505325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15393" y="4200525"/>
              <a:ext cx="1817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Return the response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1752600" y="5238750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09642" y="4933950"/>
              <a:ext cx="20293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Ask again immediately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566" y="5530850"/>
              <a:ext cx="4613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TIME ↓</a:t>
              </a:r>
            </a:p>
          </p:txBody>
        </p:sp>
      </p:grpSp>
      <p:grpSp>
        <p:nvGrpSpPr>
          <p:cNvPr id="26" name="explanation"/>
          <p:cNvGrpSpPr/>
          <p:nvPr/>
        </p:nvGrpSpPr>
        <p:grpSpPr>
          <a:xfrm>
            <a:off x="7810500" y="2114550"/>
            <a:ext cx="3109966" cy="3524250"/>
            <a:chOff x="7810500" y="2114550"/>
            <a:chExt cx="3109966" cy="3524250"/>
          </a:xfrm>
        </p:grpSpPr>
        <p:sp>
          <p:nvSpPr>
            <p:cNvPr id="20" name="Rectangle 20"/>
            <p:cNvSpPr/>
            <p:nvPr/>
          </p:nvSpPr>
          <p:spPr>
            <a:xfrm>
              <a:off x="7810500" y="2114550"/>
              <a:ext cx="38100" cy="352425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03108" y="2219325"/>
              <a:ext cx="2817358" cy="869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Wait for an update.</a:t>
              </a:r>
              <a:b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Then ask again.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04632" y="3451225"/>
              <a:ext cx="252811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Fewer empty replies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04632" y="4022725"/>
              <a:ext cx="234811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Repeated requests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07680" y="4886325"/>
              <a:ext cx="22774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STILL A REQUEST CYCLE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07680" y="5238750"/>
              <a:ext cx="1842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Timeouts still matter</a:t>
              </a:r>
            </a:p>
          </p:txBody>
        </p:sp>
      </p:grpSp>
      <p:grpSp>
        <p:nvGrpSpPr>
          <p:cNvPr id="29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27" name="TextBox 27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4349392" cy="1123188"/>
            <a:chOff x="591312" y="546100"/>
            <a:chExt cx="4349392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37270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 / METHODS · 3 OF 4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43493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Server-Sent Events</a:t>
              </a:r>
            </a:p>
          </p:txBody>
        </p:sp>
      </p:grpSp>
      <p:grpSp>
        <p:nvGrpSpPr>
          <p:cNvPr id="20" name="sequence"/>
          <p:cNvGrpSpPr/>
          <p:nvPr/>
        </p:nvGrpSpPr>
        <p:grpSpPr>
          <a:xfrm>
            <a:off x="718566" y="2108200"/>
            <a:ext cx="5799762" cy="3843020"/>
            <a:chOff x="718566" y="2108200"/>
            <a:chExt cx="5799762" cy="3843020"/>
          </a:xfrm>
        </p:grpSpPr>
        <p:sp>
          <p:nvSpPr>
            <p:cNvPr id="5" name="TextBox 5"/>
            <p:cNvSpPr txBox="1"/>
            <p:nvPr/>
          </p:nvSpPr>
          <p:spPr>
            <a:xfrm>
              <a:off x="1220648" y="2108200"/>
              <a:ext cx="102580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Browser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11771" y="2108200"/>
              <a:ext cx="8065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Server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1619250" y="3181350"/>
              <a:ext cx="4610100" cy="2324100"/>
            </a:xfrm>
            <a:prstGeom prst="roundRect">
              <a:avLst>
                <a:gd name="adj" fmla="val 4918"/>
              </a:avLst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8" name="Line 8"/>
            <p:cNvSpPr/>
            <p:nvPr/>
          </p:nvSpPr>
          <p:spPr>
            <a:xfrm>
              <a:off x="1733550" y="2552700"/>
              <a:ext cx="9525" cy="2971800"/>
            </a:xfrm>
            <a:custGeom>
              <a:avLst/>
              <a:gdLst/>
              <a:ahLst/>
              <a:cxnLst/>
              <a:rect l="l" t="t" r="r" b="b"/>
              <a:pathLst>
                <a:path w="9525" h="2971800">
                  <a:moveTo>
                    <a:pt x="0" y="0"/>
                  </a:moveTo>
                  <a:lnTo>
                    <a:pt x="0" y="297180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Line 9"/>
            <p:cNvSpPr/>
            <p:nvPr/>
          </p:nvSpPr>
          <p:spPr>
            <a:xfrm>
              <a:off x="6115050" y="2552700"/>
              <a:ext cx="9525" cy="2971800"/>
            </a:xfrm>
            <a:custGeom>
              <a:avLst/>
              <a:gdLst/>
              <a:ahLst/>
              <a:cxnLst/>
              <a:rect l="l" t="t" r="r" b="b"/>
              <a:pathLst>
                <a:path w="9525" h="2971800">
                  <a:moveTo>
                    <a:pt x="0" y="0"/>
                  </a:moveTo>
                  <a:lnTo>
                    <a:pt x="0" y="297180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0" name="Line 10"/>
            <p:cNvSpPr/>
            <p:nvPr/>
          </p:nvSpPr>
          <p:spPr>
            <a:xfrm>
              <a:off x="1752600" y="2924175"/>
              <a:ext cx="43053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652681" y="2619375"/>
              <a:ext cx="25432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Open an HTTP event stream</a:t>
              </a:r>
            </a:p>
          </p:txBody>
        </p:sp>
        <p:sp>
          <p:nvSpPr>
            <p:cNvPr id="12" name="Line 12"/>
            <p:cNvSpPr/>
            <p:nvPr/>
          </p:nvSpPr>
          <p:spPr>
            <a:xfrm flipH="1">
              <a:off x="1790700" y="3686175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463973" y="3381375"/>
              <a:ext cx="9206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New reply</a:t>
              </a:r>
            </a:p>
          </p:txBody>
        </p:sp>
        <p:sp>
          <p:nvSpPr>
            <p:cNvPr id="14" name="Line 14"/>
            <p:cNvSpPr/>
            <p:nvPr/>
          </p:nvSpPr>
          <p:spPr>
            <a:xfrm flipH="1">
              <a:off x="1790700" y="4448175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312467" y="4143375"/>
              <a:ext cx="12236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New mention</a:t>
              </a:r>
            </a:p>
          </p:txBody>
        </p:sp>
        <p:sp>
          <p:nvSpPr>
            <p:cNvPr id="16" name="Line 16"/>
            <p:cNvSpPr/>
            <p:nvPr/>
          </p:nvSpPr>
          <p:spPr>
            <a:xfrm flipH="1">
              <a:off x="1790700" y="5210175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306382" y="4905375"/>
              <a:ext cx="12358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Unread count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145331" y="5657850"/>
              <a:ext cx="35579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Client actions → separate HTTP requests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566" y="5321300"/>
              <a:ext cx="4613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TIME ↓</a:t>
              </a:r>
            </a:p>
          </p:txBody>
        </p:sp>
      </p:grpSp>
      <p:grpSp>
        <p:nvGrpSpPr>
          <p:cNvPr id="31" name="explanation"/>
          <p:cNvGrpSpPr/>
          <p:nvPr/>
        </p:nvGrpSpPr>
        <p:grpSpPr>
          <a:xfrm>
            <a:off x="7810500" y="2114550"/>
            <a:ext cx="3099935" cy="3733800"/>
            <a:chOff x="7810500" y="2114550"/>
            <a:chExt cx="3099935" cy="3733800"/>
          </a:xfrm>
        </p:grpSpPr>
        <p:sp>
          <p:nvSpPr>
            <p:cNvPr id="21" name="Rectangle 21"/>
            <p:cNvSpPr/>
            <p:nvPr/>
          </p:nvSpPr>
          <p:spPr>
            <a:xfrm>
              <a:off x="7810500" y="2114550"/>
              <a:ext cx="38100" cy="3733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03108" y="2219325"/>
              <a:ext cx="2648560" cy="869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One open stream.</a:t>
              </a:r>
              <a:b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Server to browser.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8172450" y="3338512"/>
              <a:ext cx="228600" cy="257176"/>
              <a:chOff x="8172450" y="3338512"/>
              <a:chExt cx="228600" cy="257176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172450" y="3338512"/>
                <a:ext cx="22860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00025">
                    <a:moveTo>
                      <a:pt x="85725" y="28575"/>
                    </a:moveTo>
                    <a:cubicBezTo>
                      <a:pt x="85725" y="12793"/>
                      <a:pt x="98518" y="0"/>
                      <a:pt x="114300" y="0"/>
                    </a:cubicBezTo>
                    <a:cubicBezTo>
                      <a:pt x="130082" y="0"/>
                      <a:pt x="142875" y="12793"/>
                      <a:pt x="142875" y="28575"/>
                    </a:cubicBezTo>
                    <a:cubicBezTo>
                      <a:pt x="176310" y="44385"/>
                      <a:pt x="198291" y="77356"/>
                      <a:pt x="200025" y="114300"/>
                    </a:cubicBezTo>
                    <a:lnTo>
                      <a:pt x="200025" y="157162"/>
                    </a:lnTo>
                    <a:cubicBezTo>
                      <a:pt x="202205" y="175176"/>
                      <a:pt x="212811" y="191084"/>
                      <a:pt x="228600" y="200025"/>
                    </a:cubicBezTo>
                    <a:lnTo>
                      <a:pt x="0" y="200025"/>
                    </a:lnTo>
                    <a:cubicBezTo>
                      <a:pt x="15789" y="191084"/>
                      <a:pt x="26395" y="175176"/>
                      <a:pt x="28575" y="157162"/>
                    </a:cubicBezTo>
                    <a:lnTo>
                      <a:pt x="28575" y="114300"/>
                    </a:lnTo>
                    <a:cubicBezTo>
                      <a:pt x="30309" y="77356"/>
                      <a:pt x="52290" y="44385"/>
                      <a:pt x="85725" y="28575"/>
                    </a:cubicBez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8243888" y="3538538"/>
                <a:ext cx="857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57150">
                    <a:moveTo>
                      <a:pt x="0" y="0"/>
                    </a:moveTo>
                    <a:lnTo>
                      <a:pt x="0" y="14288"/>
                    </a:lnTo>
                    <a:cubicBezTo>
                      <a:pt x="0" y="37960"/>
                      <a:pt x="19190" y="57150"/>
                      <a:pt x="42862" y="57150"/>
                    </a:cubicBezTo>
                    <a:cubicBezTo>
                      <a:pt x="66535" y="57150"/>
                      <a:pt x="85725" y="37960"/>
                      <a:pt x="85725" y="14288"/>
                    </a:cubicBez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8583930" y="3362325"/>
              <a:ext cx="23265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FORUM NOTIFICATIONS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04632" y="3937000"/>
              <a:ext cx="198322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Auto-reconnect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07680" y="4324350"/>
              <a:ext cx="16047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With EventSource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07680" y="5029200"/>
              <a:ext cx="21885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RECONNECT ≠ REPLAY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07680" y="5381625"/>
              <a:ext cx="20374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Recover missed events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32" name="TextBox 32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3733112" cy="1123188"/>
            <a:chOff x="591312" y="546100"/>
            <a:chExt cx="3733112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37270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 / METHODS · 4 OF 4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264091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WebSocket</a:t>
              </a:r>
            </a:p>
          </p:txBody>
        </p:sp>
      </p:grpSp>
      <p:grpSp>
        <p:nvGrpSpPr>
          <p:cNvPr id="22" name="sequence"/>
          <p:cNvGrpSpPr/>
          <p:nvPr/>
        </p:nvGrpSpPr>
        <p:grpSpPr>
          <a:xfrm>
            <a:off x="718566" y="2108200"/>
            <a:ext cx="5799762" cy="3900170"/>
            <a:chOff x="718566" y="2108200"/>
            <a:chExt cx="5799762" cy="3900170"/>
          </a:xfrm>
        </p:grpSpPr>
        <p:sp>
          <p:nvSpPr>
            <p:cNvPr id="5" name="TextBox 5"/>
            <p:cNvSpPr txBox="1"/>
            <p:nvPr/>
          </p:nvSpPr>
          <p:spPr>
            <a:xfrm>
              <a:off x="1220648" y="2108200"/>
              <a:ext cx="102580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Browser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11771" y="2108200"/>
              <a:ext cx="8065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Server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1619250" y="3352800"/>
              <a:ext cx="4610100" cy="2286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8" name="Line 8"/>
            <p:cNvSpPr/>
            <p:nvPr/>
          </p:nvSpPr>
          <p:spPr>
            <a:xfrm>
              <a:off x="1733550" y="2552700"/>
              <a:ext cx="9525" cy="3067050"/>
            </a:xfrm>
            <a:custGeom>
              <a:avLst/>
              <a:gdLst/>
              <a:ahLst/>
              <a:cxnLst/>
              <a:rect l="l" t="t" r="r" b="b"/>
              <a:pathLst>
                <a:path w="9525" h="3067050">
                  <a:moveTo>
                    <a:pt x="0" y="0"/>
                  </a:moveTo>
                  <a:lnTo>
                    <a:pt x="0" y="30670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Line 9"/>
            <p:cNvSpPr/>
            <p:nvPr/>
          </p:nvSpPr>
          <p:spPr>
            <a:xfrm>
              <a:off x="6115050" y="2552700"/>
              <a:ext cx="9525" cy="3067050"/>
            </a:xfrm>
            <a:custGeom>
              <a:avLst/>
              <a:gdLst/>
              <a:ahLst/>
              <a:cxnLst/>
              <a:rect l="l" t="t" r="r" b="b"/>
              <a:pathLst>
                <a:path w="9525" h="3067050">
                  <a:moveTo>
                    <a:pt x="0" y="0"/>
                  </a:moveTo>
                  <a:lnTo>
                    <a:pt x="0" y="30670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0" name="Line 10"/>
            <p:cNvSpPr/>
            <p:nvPr/>
          </p:nvSpPr>
          <p:spPr>
            <a:xfrm>
              <a:off x="1752600" y="2828925"/>
              <a:ext cx="43053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544099" y="2524125"/>
              <a:ext cx="7604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Connect</a:t>
              </a:r>
            </a:p>
          </p:txBody>
        </p:sp>
        <p:sp>
          <p:nvSpPr>
            <p:cNvPr id="12" name="Line 12"/>
            <p:cNvSpPr/>
            <p:nvPr/>
          </p:nvSpPr>
          <p:spPr>
            <a:xfrm flipH="1">
              <a:off x="1790700" y="3181350"/>
              <a:ext cx="43053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74150" y="2886075"/>
              <a:ext cx="2100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Connection established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1752600" y="3781425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94499" y="3476625"/>
              <a:ext cx="14596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Send a message</a:t>
              </a:r>
            </a:p>
          </p:txBody>
        </p:sp>
        <p:sp>
          <p:nvSpPr>
            <p:cNvPr id="16" name="Line 16"/>
            <p:cNvSpPr/>
            <p:nvPr/>
          </p:nvSpPr>
          <p:spPr>
            <a:xfrm flipH="1">
              <a:off x="1790700" y="4448175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79522" y="4143375"/>
              <a:ext cx="16895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Receive a message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752600" y="5114925"/>
              <a:ext cx="4305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36976" y="4810125"/>
              <a:ext cx="7746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Typing…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64793" y="5715000"/>
              <a:ext cx="31190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Both sides can send independently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18566" y="5387975"/>
              <a:ext cx="4613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TIME ↓</a:t>
              </a:r>
            </a:p>
          </p:txBody>
        </p:sp>
      </p:grpSp>
      <p:grpSp>
        <p:nvGrpSpPr>
          <p:cNvPr id="31" name="explanation"/>
          <p:cNvGrpSpPr/>
          <p:nvPr/>
        </p:nvGrpSpPr>
        <p:grpSpPr>
          <a:xfrm>
            <a:off x="7810500" y="2114550"/>
            <a:ext cx="2916933" cy="3733800"/>
            <a:chOff x="7810500" y="2114550"/>
            <a:chExt cx="2916933" cy="3733800"/>
          </a:xfrm>
        </p:grpSpPr>
        <p:sp>
          <p:nvSpPr>
            <p:cNvPr id="23" name="Rectangle 23"/>
            <p:cNvSpPr/>
            <p:nvPr/>
          </p:nvSpPr>
          <p:spPr>
            <a:xfrm>
              <a:off x="7810500" y="2114550"/>
              <a:ext cx="38100" cy="3733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03108" y="2219325"/>
              <a:ext cx="2360127" cy="869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One connection.</a:t>
              </a:r>
              <a:b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Both directions.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8143532" y="3341727"/>
              <a:ext cx="285236" cy="252846"/>
            </a:xfrm>
            <a:custGeom>
              <a:avLst/>
              <a:gdLst/>
              <a:ahLst/>
              <a:cxnLst/>
              <a:rect l="l" t="t" r="r" b="b"/>
              <a:pathLst>
                <a:path w="285236" h="252846">
                  <a:moveTo>
                    <a:pt x="14630" y="239673"/>
                  </a:moveTo>
                  <a:lnTo>
                    <a:pt x="33204" y="183952"/>
                  </a:lnTo>
                  <a:cubicBezTo>
                    <a:pt x="0" y="134845"/>
                    <a:pt x="12830" y="71480"/>
                    <a:pt x="63208" y="35733"/>
                  </a:cubicBezTo>
                  <a:cubicBezTo>
                    <a:pt x="113586" y="0"/>
                    <a:pt x="185938" y="2929"/>
                    <a:pt x="232443" y="42591"/>
                  </a:cubicBezTo>
                  <a:cubicBezTo>
                    <a:pt x="278949" y="82267"/>
                    <a:pt x="285236" y="146404"/>
                    <a:pt x="247145" y="192624"/>
                  </a:cubicBezTo>
                  <a:cubicBezTo>
                    <a:pt x="209055" y="238844"/>
                    <a:pt x="138346" y="252846"/>
                    <a:pt x="81782" y="225385"/>
                  </a:cubicBezTo>
                  <a:lnTo>
                    <a:pt x="14630" y="239673"/>
                  </a:lnTo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83930" y="3362325"/>
              <a:ext cx="14556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MEMBER CHAT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04632" y="3937000"/>
              <a:ext cx="239263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Messages + typing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07680" y="4324350"/>
              <a:ext cx="26197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new request per message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07680" y="5029200"/>
              <a:ext cx="25967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SENT ≠ DELIVERED ≠ READ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07680" y="5381625"/>
              <a:ext cx="2448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Delivery is application logic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32" name="TextBox 32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6355938" cy="1123188"/>
            <a:chOff x="591312" y="546100"/>
            <a:chExt cx="6355938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634984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 / LESSONS LEARNED &amp; TRADE-OFFS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490728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Build for Disconnects</a:t>
              </a:r>
            </a:p>
          </p:txBody>
        </p:sp>
      </p:grpSp>
      <p:grpSp>
        <p:nvGrpSpPr>
          <p:cNvPr id="26" name="recovery-path"/>
          <p:cNvGrpSpPr/>
          <p:nvPr/>
        </p:nvGrpSpPr>
        <p:grpSpPr>
          <a:xfrm>
            <a:off x="1376277" y="2352675"/>
            <a:ext cx="9925247" cy="1814068"/>
            <a:chOff x="1376277" y="2352675"/>
            <a:chExt cx="9925247" cy="1814068"/>
          </a:xfrm>
        </p:grpSpPr>
        <p:grpSp>
          <p:nvGrpSpPr>
            <p:cNvPr id="10" name="Group 10"/>
            <p:cNvGrpSpPr/>
            <p:nvPr/>
          </p:nvGrpSpPr>
          <p:grpSpPr>
            <a:xfrm>
              <a:off x="1971675" y="2352675"/>
              <a:ext cx="514350" cy="514350"/>
              <a:chOff x="1971675" y="2352675"/>
              <a:chExt cx="514350" cy="51435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2228850" y="27813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86" y="0"/>
                    </a:lnTo>
                  </a:path>
                </a:pathLst>
              </a:custGeom>
              <a:noFill/>
              <a:ln w="57150">
                <a:solidFill>
                  <a:srgbClr val="B36A13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6" name="Freeform 6"/>
              <p:cNvSpPr/>
              <p:nvPr/>
            </p:nvSpPr>
            <p:spPr>
              <a:xfrm>
                <a:off x="2148040" y="2655869"/>
                <a:ext cx="161620" cy="44621"/>
              </a:xfrm>
              <a:custGeom>
                <a:avLst/>
                <a:gdLst/>
                <a:ahLst/>
                <a:cxnLst/>
                <a:rect l="l" t="t" r="r" b="b"/>
                <a:pathLst>
                  <a:path w="161620" h="44621">
                    <a:moveTo>
                      <a:pt x="0" y="44621"/>
                    </a:moveTo>
                    <a:cubicBezTo>
                      <a:pt x="44634" y="0"/>
                      <a:pt x="116986" y="0"/>
                      <a:pt x="161620" y="44621"/>
                    </a:cubicBezTo>
                  </a:path>
                </a:pathLst>
              </a:custGeom>
              <a:noFill/>
              <a:ln w="57150">
                <a:solidFill>
                  <a:srgbClr val="B36A13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7" name="Freeform 7"/>
              <p:cNvSpPr/>
              <p:nvPr/>
            </p:nvSpPr>
            <p:spPr>
              <a:xfrm>
                <a:off x="2067201" y="2558501"/>
                <a:ext cx="323298" cy="61579"/>
              </a:xfrm>
              <a:custGeom>
                <a:avLst/>
                <a:gdLst/>
                <a:ahLst/>
                <a:cxnLst/>
                <a:rect l="l" t="t" r="r" b="b"/>
                <a:pathLst>
                  <a:path w="323298" h="61579">
                    <a:moveTo>
                      <a:pt x="0" y="61151"/>
                    </a:moveTo>
                    <a:cubicBezTo>
                      <a:pt x="30302" y="30763"/>
                      <a:pt x="68579" y="9564"/>
                      <a:pt x="110414" y="0"/>
                    </a:cubicBezTo>
                    <a:moveTo>
                      <a:pt x="229372" y="4429"/>
                    </a:moveTo>
                    <a:cubicBezTo>
                      <a:pt x="264880" y="15517"/>
                      <a:pt x="297130" y="35140"/>
                      <a:pt x="323298" y="61579"/>
                    </a:cubicBezTo>
                  </a:path>
                </a:pathLst>
              </a:custGeom>
              <a:noFill/>
              <a:ln w="57150">
                <a:solidFill>
                  <a:srgbClr val="B36A13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8" name="Freeform 8"/>
              <p:cNvSpPr/>
              <p:nvPr/>
            </p:nvSpPr>
            <p:spPr>
              <a:xfrm>
                <a:off x="1986391" y="2425640"/>
                <a:ext cx="484918" cy="113202"/>
              </a:xfrm>
              <a:custGeom>
                <a:avLst/>
                <a:gdLst/>
                <a:ahLst/>
                <a:cxnLst/>
                <a:rect l="l" t="t" r="r" b="b"/>
                <a:pathLst>
                  <a:path w="484918" h="113202">
                    <a:moveTo>
                      <a:pt x="0" y="113202"/>
                    </a:moveTo>
                    <a:cubicBezTo>
                      <a:pt x="29245" y="83896"/>
                      <a:pt x="63555" y="60128"/>
                      <a:pt x="101270" y="43050"/>
                    </a:cubicBezTo>
                    <a:moveTo>
                      <a:pt x="189881" y="16761"/>
                    </a:moveTo>
                    <a:cubicBezTo>
                      <a:pt x="297975" y="0"/>
                      <a:pt x="407579" y="35817"/>
                      <a:pt x="484918" y="113173"/>
                    </a:cubicBezTo>
                  </a:path>
                </a:pathLst>
              </a:custGeom>
              <a:noFill/>
              <a:ln w="57150">
                <a:solidFill>
                  <a:srgbClr val="B36A13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9" name="Freeform 9"/>
              <p:cNvSpPr/>
              <p:nvPr/>
            </p:nvSpPr>
            <p:spPr>
              <a:xfrm>
                <a:off x="1971675" y="2352675"/>
                <a:ext cx="514350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514350">
                    <a:moveTo>
                      <a:pt x="0" y="0"/>
                    </a:moveTo>
                    <a:lnTo>
                      <a:pt x="514350" y="514350"/>
                    </a:lnTo>
                  </a:path>
                </a:pathLst>
              </a:custGeom>
              <a:noFill/>
              <a:ln w="57150">
                <a:solidFill>
                  <a:srgbClr val="B36A13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376277" y="3213100"/>
              <a:ext cx="17051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Disconnect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33510" y="3756025"/>
              <a:ext cx="139068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Show state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3505200" y="2628900"/>
              <a:ext cx="1257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5829300" y="2370225"/>
              <a:ext cx="457200" cy="479250"/>
              <a:chOff x="5829300" y="2370225"/>
              <a:chExt cx="457200" cy="47925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5829300" y="2370225"/>
                <a:ext cx="457200" cy="21105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211050">
                    <a:moveTo>
                      <a:pt x="457200" y="211050"/>
                    </a:moveTo>
                    <a:cubicBezTo>
                      <a:pt x="442835" y="107681"/>
                      <a:pt x="361070" y="26711"/>
                      <a:pt x="257566" y="13355"/>
                    </a:cubicBezTo>
                    <a:cubicBezTo>
                      <a:pt x="154061" y="0"/>
                      <a:pt x="54421" y="57563"/>
                      <a:pt x="14288" y="153900"/>
                    </a:cubicBezTo>
                    <a:moveTo>
                      <a:pt x="0" y="39600"/>
                    </a:moveTo>
                    <a:lnTo>
                      <a:pt x="0" y="153900"/>
                    </a:lnTo>
                    <a:lnTo>
                      <a:pt x="114300" y="153900"/>
                    </a:lnTo>
                  </a:path>
                </a:pathLst>
              </a:custGeom>
              <a:noFill/>
              <a:ln w="57150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829300" y="2638425"/>
                <a:ext cx="457200" cy="21105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211050">
                    <a:moveTo>
                      <a:pt x="0" y="0"/>
                    </a:moveTo>
                    <a:cubicBezTo>
                      <a:pt x="14365" y="103369"/>
                      <a:pt x="96130" y="184339"/>
                      <a:pt x="199634" y="197695"/>
                    </a:cubicBezTo>
                    <a:cubicBezTo>
                      <a:pt x="303139" y="211050"/>
                      <a:pt x="402779" y="153487"/>
                      <a:pt x="442912" y="57150"/>
                    </a:cubicBezTo>
                    <a:moveTo>
                      <a:pt x="457200" y="171450"/>
                    </a:moveTo>
                    <a:lnTo>
                      <a:pt x="457200" y="57150"/>
                    </a:lnTo>
                    <a:lnTo>
                      <a:pt x="342900" y="57150"/>
                    </a:lnTo>
                  </a:path>
                </a:pathLst>
              </a:custGeom>
              <a:noFill/>
              <a:ln w="57150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248302" y="3213100"/>
              <a:ext cx="161919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Reconnect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21923" y="3756025"/>
              <a:ext cx="18719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Backoff + jitter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334250" y="2628900"/>
              <a:ext cx="12573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9658350" y="2352675"/>
              <a:ext cx="457200" cy="514350"/>
              <a:chOff x="9658350" y="2352675"/>
              <a:chExt cx="457200" cy="51435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9658350" y="2352675"/>
                <a:ext cx="4572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171450">
                    <a:moveTo>
                      <a:pt x="0" y="85725"/>
                    </a:moveTo>
                    <a:cubicBezTo>
                      <a:pt x="0" y="133070"/>
                      <a:pt x="102348" y="171450"/>
                      <a:pt x="228600" y="171450"/>
                    </a:cubicBezTo>
                    <a:cubicBezTo>
                      <a:pt x="354852" y="171450"/>
                      <a:pt x="457200" y="133070"/>
                      <a:pt x="457200" y="85725"/>
                    </a:cubicBezTo>
                    <a:cubicBezTo>
                      <a:pt x="457200" y="38380"/>
                      <a:pt x="354852" y="0"/>
                      <a:pt x="228600" y="0"/>
                    </a:cubicBezTo>
                    <a:cubicBezTo>
                      <a:pt x="102348" y="0"/>
                      <a:pt x="0" y="38380"/>
                      <a:pt x="0" y="85725"/>
                    </a:cubicBezTo>
                  </a:path>
                </a:pathLst>
              </a:custGeom>
              <a:noFill/>
              <a:ln w="57150">
                <a:solidFill>
                  <a:schemeClr val="accent3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9658350" y="2438400"/>
                <a:ext cx="457200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257175">
                    <a:moveTo>
                      <a:pt x="0" y="0"/>
                    </a:moveTo>
                    <a:lnTo>
                      <a:pt x="0" y="171450"/>
                    </a:lnTo>
                    <a:cubicBezTo>
                      <a:pt x="0" y="218795"/>
                      <a:pt x="102348" y="257175"/>
                      <a:pt x="228600" y="257175"/>
                    </a:cubicBezTo>
                    <a:cubicBezTo>
                      <a:pt x="354852" y="257175"/>
                      <a:pt x="457200" y="218795"/>
                      <a:pt x="457200" y="171450"/>
                    </a:cubicBezTo>
                    <a:lnTo>
                      <a:pt x="457200" y="0"/>
                    </a:lnTo>
                  </a:path>
                </a:pathLst>
              </a:custGeom>
              <a:noFill/>
              <a:ln w="57150">
                <a:solidFill>
                  <a:schemeClr val="accent3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658350" y="2609850"/>
                <a:ext cx="457200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257175">
                    <a:moveTo>
                      <a:pt x="0" y="0"/>
                    </a:moveTo>
                    <a:lnTo>
                      <a:pt x="0" y="171450"/>
                    </a:lnTo>
                    <a:cubicBezTo>
                      <a:pt x="0" y="218795"/>
                      <a:pt x="102348" y="257175"/>
                      <a:pt x="228600" y="257175"/>
                    </a:cubicBezTo>
                    <a:cubicBezTo>
                      <a:pt x="354852" y="257175"/>
                      <a:pt x="457200" y="218795"/>
                      <a:pt x="457200" y="171450"/>
                    </a:cubicBezTo>
                    <a:lnTo>
                      <a:pt x="457200" y="0"/>
                    </a:lnTo>
                  </a:path>
                </a:pathLst>
              </a:custGeom>
              <a:noFill/>
              <a:ln w="57150">
                <a:solidFill>
                  <a:schemeClr val="accent3"/>
                </a:solidFill>
              </a:ln>
            </p:spPr>
            <p:txBody>
              <a:bodyPr/>
              <a:lstStyle/>
              <a:p>
                <a:endParaRPr lang="en-150"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261448" y="3213100"/>
              <a:ext cx="125100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Recover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472375" y="3756025"/>
              <a:ext cx="28291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1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Resume + deduplicate</a:t>
              </a:r>
            </a:p>
          </p:txBody>
        </p:sp>
      </p:grpSp>
      <p:grpSp>
        <p:nvGrpSpPr>
          <p:cNvPr id="30" name="principle"/>
          <p:cNvGrpSpPr/>
          <p:nvPr/>
        </p:nvGrpSpPr>
        <p:grpSpPr>
          <a:xfrm>
            <a:off x="609600" y="4914900"/>
            <a:ext cx="10972800" cy="1047750"/>
            <a:chOff x="609600" y="4914900"/>
            <a:chExt cx="10972800" cy="1047750"/>
          </a:xfrm>
        </p:grpSpPr>
        <p:sp>
          <p:nvSpPr>
            <p:cNvPr id="27" name="Rectangle 27"/>
            <p:cNvSpPr/>
            <p:nvPr/>
          </p:nvSpPr>
          <p:spPr>
            <a:xfrm>
              <a:off x="609600" y="4914900"/>
              <a:ext cx="10972800" cy="1047750"/>
            </a:xfrm>
            <a:prstGeom prst="roundRect">
              <a:avLst>
                <a:gd name="adj" fmla="val 10909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2208" y="5213350"/>
              <a:ext cx="34230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Reconnect ≠ recovery.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90207" y="5260975"/>
              <a:ext cx="30984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Persist important events.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31" name="TextBox 31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1312" y="546100"/>
            <a:ext cx="6355938" cy="1123188"/>
            <a:chOff x="591312" y="546100"/>
            <a:chExt cx="6355938" cy="1123188"/>
          </a:xfrm>
        </p:grpSpPr>
        <p:sp>
          <p:nvSpPr>
            <p:cNvPr id="2" name="TextBox 2"/>
            <p:cNvSpPr txBox="1"/>
            <p:nvPr/>
          </p:nvSpPr>
          <p:spPr>
            <a:xfrm>
              <a:off x="597408" y="546100"/>
              <a:ext cx="634984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 / LESSONS LEARNED &amp; TRADE-OFFS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1312" y="965200"/>
              <a:ext cx="403364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6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Choose What Fits</a:t>
              </a:r>
            </a:p>
          </p:txBody>
        </p:sp>
      </p:grpSp>
      <p:grpSp>
        <p:nvGrpSpPr>
          <p:cNvPr id="53" name="choices"/>
          <p:cNvGrpSpPr/>
          <p:nvPr/>
        </p:nvGrpSpPr>
        <p:grpSpPr>
          <a:xfrm>
            <a:off x="609600" y="2163743"/>
            <a:ext cx="5962650" cy="2867025"/>
            <a:chOff x="609600" y="2163743"/>
            <a:chExt cx="5962650" cy="2867025"/>
          </a:xfrm>
        </p:grpSpPr>
        <p:sp>
          <p:nvSpPr>
            <p:cNvPr id="34" name="Need 1"/>
            <p:cNvSpPr txBox="1"/>
            <p:nvPr/>
          </p:nvSpPr>
          <p:spPr>
            <a:xfrm>
              <a:off x="609600" y="2163743"/>
              <a:ext cx="285750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Periodic updates</a:t>
              </a:r>
            </a:p>
          </p:txBody>
        </p:sp>
        <p:sp>
          <p:nvSpPr>
            <p:cNvPr id="35" name="Arrow 1"/>
            <p:cNvSpPr/>
            <p:nvPr/>
          </p:nvSpPr>
          <p:spPr>
            <a:xfrm>
              <a:off x="3543300" y="2363768"/>
              <a:ext cx="66675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36" name="Method 1"/>
            <p:cNvSpPr txBox="1"/>
            <p:nvPr/>
          </p:nvSpPr>
          <p:spPr>
            <a:xfrm>
              <a:off x="4419600" y="2163743"/>
              <a:ext cx="215265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Polling</a:t>
              </a:r>
            </a:p>
          </p:txBody>
        </p:sp>
        <p:sp>
          <p:nvSpPr>
            <p:cNvPr id="38" name="Divider 1"/>
            <p:cNvSpPr/>
            <p:nvPr/>
          </p:nvSpPr>
          <p:spPr>
            <a:xfrm>
              <a:off x="609600" y="2800350"/>
              <a:ext cx="5962650" cy="0"/>
            </a:xfrm>
            <a:prstGeom prst="line">
              <a:avLst/>
            </a:pr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39" name="Need 2"/>
            <p:cNvSpPr txBox="1"/>
            <p:nvPr/>
          </p:nvSpPr>
          <p:spPr>
            <a:xfrm>
              <a:off x="609600" y="2963843"/>
              <a:ext cx="285750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Earlier updates</a:t>
              </a:r>
            </a:p>
          </p:txBody>
        </p:sp>
        <p:sp>
          <p:nvSpPr>
            <p:cNvPr id="40" name="Arrow 2"/>
            <p:cNvSpPr/>
            <p:nvPr/>
          </p:nvSpPr>
          <p:spPr>
            <a:xfrm>
              <a:off x="3543300" y="3163868"/>
              <a:ext cx="66675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41" name="Method 2"/>
            <p:cNvSpPr txBox="1"/>
            <p:nvPr/>
          </p:nvSpPr>
          <p:spPr>
            <a:xfrm>
              <a:off x="4419600" y="2963843"/>
              <a:ext cx="215265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Long polling</a:t>
              </a:r>
            </a:p>
          </p:txBody>
        </p:sp>
        <p:sp>
          <p:nvSpPr>
            <p:cNvPr id="43" name="Divider 2"/>
            <p:cNvSpPr/>
            <p:nvPr/>
          </p:nvSpPr>
          <p:spPr>
            <a:xfrm>
              <a:off x="609600" y="3600450"/>
              <a:ext cx="5962650" cy="0"/>
            </a:xfrm>
            <a:prstGeom prst="line">
              <a:avLst/>
            </a:pr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44" name="Need 3"/>
            <p:cNvSpPr txBox="1"/>
            <p:nvPr/>
          </p:nvSpPr>
          <p:spPr>
            <a:xfrm>
              <a:off x="609600" y="3763943"/>
              <a:ext cx="285750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Server push</a:t>
              </a:r>
            </a:p>
          </p:txBody>
        </p:sp>
        <p:sp>
          <p:nvSpPr>
            <p:cNvPr id="45" name="Arrow 3"/>
            <p:cNvSpPr/>
            <p:nvPr/>
          </p:nvSpPr>
          <p:spPr>
            <a:xfrm>
              <a:off x="3543300" y="3963968"/>
              <a:ext cx="66675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46" name="Method 3"/>
            <p:cNvSpPr txBox="1"/>
            <p:nvPr/>
          </p:nvSpPr>
          <p:spPr>
            <a:xfrm>
              <a:off x="4419600" y="3763943"/>
              <a:ext cx="215265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SSE</a:t>
              </a:r>
            </a:p>
          </p:txBody>
        </p:sp>
        <p:sp>
          <p:nvSpPr>
            <p:cNvPr id="48" name="Divider 3"/>
            <p:cNvSpPr/>
            <p:nvPr/>
          </p:nvSpPr>
          <p:spPr>
            <a:xfrm>
              <a:off x="609600" y="4400550"/>
              <a:ext cx="5962650" cy="0"/>
            </a:xfrm>
            <a:prstGeom prst="line">
              <a:avLst/>
            </a:pr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49" name="Need 4"/>
            <p:cNvSpPr txBox="1"/>
            <p:nvPr/>
          </p:nvSpPr>
          <p:spPr>
            <a:xfrm>
              <a:off x="609600" y="4564043"/>
              <a:ext cx="285750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Two-way interaction</a:t>
              </a:r>
            </a:p>
          </p:txBody>
        </p:sp>
        <p:sp>
          <p:nvSpPr>
            <p:cNvPr id="50" name="Arrow 4"/>
            <p:cNvSpPr/>
            <p:nvPr/>
          </p:nvSpPr>
          <p:spPr>
            <a:xfrm>
              <a:off x="3543300" y="4764068"/>
              <a:ext cx="66675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51" name="Method 4"/>
            <p:cNvSpPr txBox="1"/>
            <p:nvPr/>
          </p:nvSpPr>
          <p:spPr>
            <a:xfrm>
              <a:off x="4419600" y="4564043"/>
              <a:ext cx="215265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WebSocket</a:t>
              </a:r>
            </a:p>
          </p:txBody>
        </p:sp>
      </p:grpSp>
      <p:grpSp>
        <p:nvGrpSpPr>
          <p:cNvPr id="60" name="guardrails"/>
          <p:cNvGrpSpPr/>
          <p:nvPr/>
        </p:nvGrpSpPr>
        <p:grpSpPr>
          <a:xfrm>
            <a:off x="7048500" y="2038350"/>
            <a:ext cx="4533900" cy="3114675"/>
            <a:chOff x="7048500" y="2038350"/>
            <a:chExt cx="4533900" cy="3114675"/>
          </a:xfrm>
        </p:grpSpPr>
        <p:sp>
          <p:nvSpPr>
            <p:cNvPr id="54" name="Best practice card"/>
            <p:cNvSpPr/>
            <p:nvPr/>
          </p:nvSpPr>
          <p:spPr>
            <a:xfrm>
              <a:off x="7048500" y="2038350"/>
              <a:ext cx="4533900" cy="1495425"/>
            </a:xfrm>
            <a:prstGeom prst="roundRect">
              <a:avLst>
                <a:gd name="adj" fmla="val 7643"/>
              </a:avLst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55" name="Best practice heading"/>
            <p:cNvSpPr txBox="1"/>
            <p:nvPr/>
          </p:nvSpPr>
          <p:spPr>
            <a:xfrm>
              <a:off x="7277100" y="2133600"/>
              <a:ext cx="4076700" cy="4095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1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Best practice</a:t>
              </a:r>
            </a:p>
          </p:txBody>
        </p:sp>
        <p:sp>
          <p:nvSpPr>
            <p:cNvPr id="56" name="Best practice list"/>
            <p:cNvSpPr txBox="1"/>
            <p:nvPr/>
          </p:nvSpPr>
          <p:spPr>
            <a:xfrm>
              <a:off x="7277100" y="2668447"/>
              <a:ext cx="4076700" cy="5257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marL="285750" indent="-285750">
                <a:buClr>
                  <a:schemeClr val="accent3"/>
                </a:buClr>
                <a:buSzPct val="100000"/>
                <a:buFont typeface="Wingdings" pitchFamily="2" charset="2"/>
                <a:buChar char="ü"/>
              </a:pPr>
              <a:r>
                <a:rPr lang="en" sz="1500">
                  <a:solidFill>
                    <a:schemeClr val="accent1"/>
                  </a:solidFill>
                  <a:ea typeface="+mn-lt"/>
                  <a:cs typeface="+mn-lt"/>
                </a:rPr>
                <a:t>Start with the simplest that fits</a:t>
              </a:r>
              <a:endParaRPr lang="en-US">
                <a:solidFill>
                  <a:schemeClr val="accent1"/>
                </a:solidFill>
              </a:endParaRPr>
            </a:p>
            <a:p>
              <a:pPr marL="285750" indent="-285750">
                <a:spcBef>
                  <a:spcPts val="500"/>
                </a:spcBef>
                <a:buClr>
                  <a:schemeClr val="accent3"/>
                </a:buClr>
                <a:buSzPct val="100000"/>
                <a:buFont typeface="Wingdings" pitchFamily="2" charset="2"/>
                <a:buChar char="ü"/>
              </a:pPr>
              <a:r>
                <a:rPr lang="en" sz="1500">
                  <a:solidFill>
                    <a:schemeClr val="accent1"/>
                  </a:solidFill>
                  <a:ea typeface="+mn-lt"/>
                  <a:cs typeface="+mn-lt"/>
                </a:rPr>
                <a:t>Share one connection per app</a:t>
              </a:r>
              <a:endParaRPr lang="en">
                <a:solidFill>
                  <a:schemeClr val="accent1"/>
                </a:solidFill>
              </a:endParaRPr>
            </a:p>
          </p:txBody>
        </p:sp>
        <p:sp>
          <p:nvSpPr>
            <p:cNvPr id="57" name="Avoid card"/>
            <p:cNvSpPr/>
            <p:nvPr/>
          </p:nvSpPr>
          <p:spPr>
            <a:xfrm>
              <a:off x="7048500" y="3657600"/>
              <a:ext cx="4533900" cy="1495425"/>
            </a:xfrm>
            <a:prstGeom prst="roundRect">
              <a:avLst>
                <a:gd name="adj" fmla="val 7643"/>
              </a:avLst>
            </a:prstGeom>
            <a:solidFill>
              <a:srgbClr val="FBF1E3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58" name="Avoid heading"/>
            <p:cNvSpPr txBox="1"/>
            <p:nvPr/>
          </p:nvSpPr>
          <p:spPr>
            <a:xfrm>
              <a:off x="7277100" y="3752850"/>
              <a:ext cx="4076700" cy="4095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100" b="1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Avoid</a:t>
              </a:r>
            </a:p>
          </p:txBody>
        </p:sp>
        <p:sp>
          <p:nvSpPr>
            <p:cNvPr id="59" name="Avoid list"/>
            <p:cNvSpPr txBox="1"/>
            <p:nvPr/>
          </p:nvSpPr>
          <p:spPr>
            <a:xfrm>
              <a:off x="7277100" y="4279637"/>
              <a:ext cx="4076700" cy="5257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marL="285750" indent="-285750">
                <a:buClr>
                  <a:srgbClr val="B36A13"/>
                </a:buClr>
                <a:buSzPct val="100000"/>
                <a:buFont typeface="Wingdings" pitchFamily="2" charset="2"/>
                <a:buChar char="û"/>
              </a:pPr>
              <a:r>
                <a:rPr lang="en" sz="1500">
                  <a:solidFill>
                    <a:schemeClr val="accent1"/>
                  </a:solidFill>
                  <a:ea typeface="+mn-lt"/>
                  <a:cs typeface="+mn-lt"/>
                </a:rPr>
                <a:t>Assuming the connection stays alive</a:t>
              </a:r>
              <a:endParaRPr lang="en-US">
                <a:solidFill>
                  <a:schemeClr val="accent1"/>
                </a:solidFill>
              </a:endParaRPr>
            </a:p>
            <a:p>
              <a:pPr marL="285750" indent="-285750">
                <a:spcBef>
                  <a:spcPts val="500"/>
                </a:spcBef>
                <a:buClr>
                  <a:srgbClr val="B36A13"/>
                </a:buClr>
                <a:buSzPct val="100000"/>
                <a:buFont typeface="Wingdings" pitchFamily="2" charset="2"/>
                <a:buChar char="û"/>
              </a:pPr>
              <a:r>
                <a:rPr lang="en" sz="1500">
                  <a:solidFill>
                    <a:schemeClr val="accent1"/>
                  </a:solidFill>
                  <a:ea typeface="+mn-lt"/>
                  <a:cs typeface="+mn-lt"/>
                </a:rPr>
                <a:t>Polling every second to feel real-time</a:t>
              </a:r>
              <a:endParaRPr lang="en"/>
            </a:p>
          </p:txBody>
        </p:sp>
      </p:grpSp>
      <p:grpSp>
        <p:nvGrpSpPr>
          <p:cNvPr id="62" name="tradeoff"/>
          <p:cNvGrpSpPr/>
          <p:nvPr/>
        </p:nvGrpSpPr>
        <p:grpSpPr>
          <a:xfrm>
            <a:off x="609600" y="5486400"/>
            <a:ext cx="6667500" cy="466725"/>
            <a:chOff x="609600" y="5486400"/>
            <a:chExt cx="6667500" cy="466725"/>
          </a:xfrm>
        </p:grpSpPr>
        <p:sp>
          <p:nvSpPr>
            <p:cNvPr id="61" name="Tagline"/>
            <p:cNvSpPr txBox="1"/>
            <p:nvPr/>
          </p:nvSpPr>
          <p:spPr>
            <a:xfrm>
              <a:off x="609600" y="5486400"/>
              <a:ext cx="6667500" cy="466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Less polling. </a:t>
              </a:r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More connection management.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31" name="TextBox 31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losing-title"/>
          <p:cNvGrpSpPr/>
          <p:nvPr/>
        </p:nvGrpSpPr>
        <p:grpSpPr>
          <a:xfrm>
            <a:off x="552450" y="1028700"/>
            <a:ext cx="4207883" cy="1862872"/>
            <a:chOff x="552450" y="1028700"/>
            <a:chExt cx="4207883" cy="1862872"/>
          </a:xfrm>
        </p:grpSpPr>
        <p:sp>
          <p:nvSpPr>
            <p:cNvPr id="2" name="Rectangle 2"/>
            <p:cNvSpPr/>
            <p:nvPr/>
          </p:nvSpPr>
          <p:spPr>
            <a:xfrm>
              <a:off x="609600" y="1028700"/>
              <a:ext cx="5524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7408" y="1308100"/>
              <a:ext cx="356994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 / SEE IT IN ACTION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2450" y="2060575"/>
              <a:ext cx="4207883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en" sz="5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Demo </a:t>
              </a:r>
              <a:r>
                <a:rPr lang="en" sz="5400" b="1">
                  <a:solidFill>
                    <a:schemeClr val="accent1"/>
                  </a:solidFill>
                </a:rPr>
                <a:t>- </a:t>
              </a:r>
              <a:r>
                <a:rPr lang="en" sz="5400" b="1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Q&amp;A</a:t>
              </a:r>
            </a:p>
          </p:txBody>
        </p:sp>
      </p:grpSp>
      <p:grpSp>
        <p:nvGrpSpPr>
          <p:cNvPr id="7" name="closing-prompt"/>
          <p:cNvGrpSpPr/>
          <p:nvPr/>
        </p:nvGrpSpPr>
        <p:grpSpPr>
          <a:xfrm>
            <a:off x="597408" y="3517900"/>
            <a:ext cx="6348479" cy="469392"/>
            <a:chOff x="597408" y="3517900"/>
            <a:chExt cx="6348479" cy="469392"/>
          </a:xfrm>
        </p:grpSpPr>
        <p:sp>
          <p:nvSpPr>
            <p:cNvPr id="6" name="TextBox 6"/>
            <p:cNvSpPr txBox="1"/>
            <p:nvPr/>
          </p:nvSpPr>
          <p:spPr>
            <a:xfrm>
              <a:off x="597408" y="3517900"/>
              <a:ext cx="63484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Watch the connection. Follow the messages.</a:t>
              </a:r>
            </a:p>
          </p:txBody>
        </p:sp>
      </p:grpSp>
      <p:grpSp>
        <p:nvGrpSpPr>
          <p:cNvPr id="17" name="methods"/>
          <p:cNvGrpSpPr/>
          <p:nvPr/>
        </p:nvGrpSpPr>
        <p:grpSpPr>
          <a:xfrm>
            <a:off x="598932" y="4629150"/>
            <a:ext cx="10716768" cy="861568"/>
            <a:chOff x="598932" y="4629150"/>
            <a:chExt cx="10716768" cy="861568"/>
          </a:xfrm>
        </p:grpSpPr>
        <p:sp>
          <p:nvSpPr>
            <p:cNvPr id="8" name="Line 8"/>
            <p:cNvSpPr/>
            <p:nvPr/>
          </p:nvSpPr>
          <p:spPr>
            <a:xfrm>
              <a:off x="762000" y="4695825"/>
              <a:ext cx="105537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9" name="Ellipse 9"/>
            <p:cNvSpPr/>
            <p:nvPr/>
          </p:nvSpPr>
          <p:spPr>
            <a:xfrm>
              <a:off x="847725" y="4629150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0" name="Ellipse 10"/>
            <p:cNvSpPr/>
            <p:nvPr/>
          </p:nvSpPr>
          <p:spPr>
            <a:xfrm>
              <a:off x="3667125" y="4629150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1" name="Ellipse 11"/>
            <p:cNvSpPr/>
            <p:nvPr/>
          </p:nvSpPr>
          <p:spPr>
            <a:xfrm>
              <a:off x="6877050" y="4629150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2" name="Ellipse 12"/>
            <p:cNvSpPr/>
            <p:nvPr/>
          </p:nvSpPr>
          <p:spPr>
            <a:xfrm>
              <a:off x="9477375" y="4629150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15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8932" y="5080000"/>
              <a:ext cx="88410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Polling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04007" y="5080000"/>
              <a:ext cx="159582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Long Polling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28257" y="5080000"/>
              <a:ext cx="48979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SSE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42832" y="5080000"/>
              <a:ext cx="1447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WebSocket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04266" y="6359525"/>
            <a:ext cx="10983468" cy="205359"/>
            <a:chOff x="604266" y="6359525"/>
            <a:chExt cx="10983468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04266" y="6359525"/>
              <a:ext cx="29365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REAL-TIME COMMUNICATION ON THE WEB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139740" y="6359525"/>
              <a:ext cx="4479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05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realtime_web">
  <a:themeElements>
    <a:clrScheme name="realtime_web">
      <a:dk1>
        <a:srgbClr val="243B53"/>
      </a:dk1>
      <a:lt1>
        <a:srgbClr val="F7F9FC"/>
      </a:lt1>
      <a:dk2>
        <a:srgbClr val="1F497D"/>
      </a:dk2>
      <a:lt2>
        <a:srgbClr val="E8F4F8"/>
      </a:lt2>
      <a:accent1>
        <a:srgbClr val="102A43"/>
      </a:accent1>
      <a:accent2>
        <a:srgbClr val="007F9E"/>
      </a:accent2>
      <a:accent3>
        <a:srgbClr val="15836B"/>
      </a:accent3>
      <a:accent4>
        <a:srgbClr val="102A43"/>
      </a:accent4>
      <a:accent5>
        <a:srgbClr val="526B80"/>
      </a:accent5>
      <a:accent6>
        <a:srgbClr val="CAD7E2"/>
      </a:accent6>
      <a:hlink>
        <a:srgbClr val="007F9E"/>
      </a:hlink>
      <a:folHlink>
        <a:srgbClr val="15836B"/>
      </a:folHlink>
    </a:clrScheme>
    <a:fontScheme name="realtime_web">
      <a:maj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altime_web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realtime_web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revision>1</cp:revision>
  <dcterms:created xsi:type="dcterms:W3CDTF">2026-10-07T14:34:26Z</dcterms:created>
  <dcterms:modified xsi:type="dcterms:W3CDTF">2026-10-16T03:18:37Z</dcterms:modified>
  <cp:category/>
  <cp:contentStatus/>
  <dc:language>en</dc:language>
</cp:coreProperties>
</file>